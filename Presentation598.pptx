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Play"/>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lay-regular.fntdata"/><Relationship Id="rId14" Type="http://schemas.openxmlformats.org/officeDocument/2006/relationships/slide" Target="slides/slide10.xml"/><Relationship Id="rId16"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Here is the actual code. It's incredibly minimal.</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On the left, you see the structure. You purely need a folder with a few files.</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On the right is the Manifest V3. This is the heart of the extension.</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We declare </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manifest_version: 3</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 (the modern standard).</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We give it a name.</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And we tell Chrome: 'When the user clicks the icon, show </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popup.html'.</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That's literally all you need to get started.</a:t>
            </a:r>
            <a:endParaRPr/>
          </a:p>
          <a:p>
            <a:pPr indent="0" lvl="0" marL="0" rtl="0" algn="l">
              <a:spcBef>
                <a:spcPts val="0"/>
              </a:spcBef>
              <a:spcAft>
                <a:spcPts val="0"/>
              </a:spcAft>
              <a:buNone/>
            </a:pPr>
            <a:r>
              <a:t/>
            </a:r>
            <a:endParaRPr b="0"/>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So we have a basic popup, but real extensions do much more.</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In the tutorial, we explore three powerful capabilities:</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Storage, which lets us save data that syncs across all your computers.</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Content Scripts, which let us inject our own code into websites like Google or Facebook to modify them.</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Context Menus, adding custom right-click actions.</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These are the building blocks we need for our final project.</a:t>
            </a:r>
            <a:endParaRPr/>
          </a:p>
          <a:p>
            <a:pPr indent="0" lvl="0" marL="0" rtl="0" algn="l">
              <a:spcBef>
                <a:spcPts val="0"/>
              </a:spcBef>
              <a:spcAft>
                <a:spcPts val="0"/>
              </a:spcAft>
              <a:buNone/>
            </a:pPr>
            <a:r>
              <a:t/>
            </a:r>
            <a:endParaRPr/>
          </a:p>
        </p:txBody>
      </p:sp>
      <p:sp>
        <p:nvSpPr>
          <p:cNvPr id="149" name="Google Shape;14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For the final capstone of the tutorial, we build something real: A Web Analytics Tool.</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The problem is that the modern web is opaque. You visit a news site, and 50 different trackers load in the background.</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Our extension solves this by acting as a network monitor.</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It listens to every network request leaving the browser.</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It analyzes the destination.</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And it uses a modern Vue.js interface to visualize that data in real-time, giving the user total transparency.</a:t>
            </a:r>
            <a:endParaRPr/>
          </a:p>
          <a:p>
            <a:pPr indent="0" lvl="0" marL="0" rtl="0" algn="l">
              <a:spcBef>
                <a:spcPts val="0"/>
              </a:spcBef>
              <a:spcAft>
                <a:spcPts val="0"/>
              </a:spcAft>
              <a:buNone/>
            </a:pPr>
            <a:r>
              <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a:solidFill>
                  <a:schemeClr val="dk1"/>
                </a:solidFill>
                <a:latin typeface="Arial"/>
                <a:ea typeface="Arial"/>
                <a:cs typeface="Arial"/>
                <a:sym typeface="Arial"/>
              </a:rPr>
              <a:t>I want to take a step back and talk about </a:t>
            </a:r>
            <a:r>
              <a:rPr b="0" i="1" lang="en-US" sz="1200">
                <a:solidFill>
                  <a:schemeClr val="dk1"/>
                </a:solidFill>
                <a:latin typeface="Arial"/>
                <a:ea typeface="Arial"/>
                <a:cs typeface="Arial"/>
                <a:sym typeface="Arial"/>
              </a:rPr>
              <a:t>why</a:t>
            </a:r>
            <a:r>
              <a:rPr b="0" i="0" lang="en-US" sz="1200">
                <a:solidFill>
                  <a:schemeClr val="dk1"/>
                </a:solidFill>
                <a:latin typeface="Arial"/>
                <a:ea typeface="Arial"/>
                <a:cs typeface="Arial"/>
                <a:sym typeface="Arial"/>
              </a:rPr>
              <a:t> this is impressive. Ten years ago, writing an extension was a nightmare. You had to write C++ for Internet Explorer and weird XML for Firefox. nothing was compatible. Today, thanks to the W3C standard, we can write standard JavaScript that runs on Chrome, Edge, Safari, and Firefox. That standardization is what made this project possible.</a:t>
            </a:r>
            <a:endParaRPr/>
          </a:p>
          <a:p>
            <a:pPr indent="0" lvl="0" marL="0" rtl="0" algn="l">
              <a:spcBef>
                <a:spcPts val="0"/>
              </a:spcBef>
              <a:spcAft>
                <a:spcPts val="0"/>
              </a:spcAft>
              <a:buNone/>
            </a:pPr>
            <a:r>
              <a:t/>
            </a:r>
            <a:endParaRPr/>
          </a:p>
        </p:txBody>
      </p:sp>
      <p:sp>
        <p:nvSpPr>
          <p:cNvPr id="169" name="Google Shape;16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However, the ecosystem is currently going through a massive shift called </a:t>
            </a:r>
            <a:r>
              <a:rPr b="1" i="0" lang="en-US" sz="1200">
                <a:solidFill>
                  <a:schemeClr val="dk1"/>
                </a:solidFill>
                <a:latin typeface="Arial"/>
                <a:ea typeface="Arial"/>
                <a:cs typeface="Arial"/>
                <a:sym typeface="Arial"/>
              </a:rPr>
              <a:t>Manifest V3</a:t>
            </a:r>
            <a:r>
              <a:rPr b="0" i="0" lang="en-US" sz="1200">
                <a:solidFill>
                  <a:schemeClr val="dk1"/>
                </a:solidFill>
                <a:latin typeface="Arial"/>
                <a:ea typeface="Arial"/>
                <a:cs typeface="Arial"/>
                <a:sym typeface="Arial"/>
              </a:rPr>
              <a:t>. It fundamentally changes the architecture. Extensions don't run forever anymore; they are 'Serverless'—they wake up, do work, and die to save memory. It also bans remote code and changes how AdBlocking works, prioritizing user privacy over extension power. This is why V3 has been so controversial.</a:t>
            </a:r>
            <a:endParaRP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In conclusion, building this project taught me that the browser is a complex operating system. We learned about the ephemeral lifecycle of Service Workers, the strict security of CSP, and the power of observability. I'll leave you with a quick demo of the final tool working in action. Thank you.</a:t>
            </a:r>
            <a:endParaRPr/>
          </a:p>
        </p:txBody>
      </p:sp>
      <p:sp>
        <p:nvSpPr>
          <p:cNvPr id="190" name="Google Shape;19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8" name="Google Shape;18;p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 name="Google Shape;24;p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9E9E9"/>
              </a:buClr>
              <a:buSzPts val="2400"/>
              <a:buNone/>
              <a:defRPr sz="2400">
                <a:solidFill>
                  <a:srgbClr val="E9E9E9"/>
                </a:solidFill>
              </a:defRPr>
            </a:lvl1pPr>
            <a:lvl2pPr indent="-228600" lvl="1" marL="914400" algn="l">
              <a:lnSpc>
                <a:spcPct val="90000"/>
              </a:lnSpc>
              <a:spcBef>
                <a:spcPts val="500"/>
              </a:spcBef>
              <a:spcAft>
                <a:spcPts val="0"/>
              </a:spcAft>
              <a:buClr>
                <a:srgbClr val="E9E9E9"/>
              </a:buClr>
              <a:buSzPts val="2000"/>
              <a:buNone/>
              <a:defRPr sz="2000">
                <a:solidFill>
                  <a:srgbClr val="E9E9E9"/>
                </a:solidFill>
              </a:defRPr>
            </a:lvl2pPr>
            <a:lvl3pPr indent="-228600" lvl="2" marL="1371600" algn="l">
              <a:lnSpc>
                <a:spcPct val="90000"/>
              </a:lnSpc>
              <a:spcBef>
                <a:spcPts val="500"/>
              </a:spcBef>
              <a:spcAft>
                <a:spcPts val="0"/>
              </a:spcAft>
              <a:buClr>
                <a:srgbClr val="E9E9E9"/>
              </a:buClr>
              <a:buSzPts val="1800"/>
              <a:buNone/>
              <a:defRPr sz="1800">
                <a:solidFill>
                  <a:srgbClr val="E9E9E9"/>
                </a:solidFill>
              </a:defRPr>
            </a:lvl3pPr>
            <a:lvl4pPr indent="-228600" lvl="3" marL="1828800" algn="l">
              <a:lnSpc>
                <a:spcPct val="90000"/>
              </a:lnSpc>
              <a:spcBef>
                <a:spcPts val="500"/>
              </a:spcBef>
              <a:spcAft>
                <a:spcPts val="0"/>
              </a:spcAft>
              <a:buClr>
                <a:srgbClr val="E9E9E9"/>
              </a:buClr>
              <a:buSzPts val="1600"/>
              <a:buNone/>
              <a:defRPr sz="1600">
                <a:solidFill>
                  <a:srgbClr val="E9E9E9"/>
                </a:solidFill>
              </a:defRPr>
            </a:lvl4pPr>
            <a:lvl5pPr indent="-228600" lvl="4" marL="2286000" algn="l">
              <a:lnSpc>
                <a:spcPct val="90000"/>
              </a:lnSpc>
              <a:spcBef>
                <a:spcPts val="500"/>
              </a:spcBef>
              <a:spcAft>
                <a:spcPts val="0"/>
              </a:spcAft>
              <a:buClr>
                <a:srgbClr val="E9E9E9"/>
              </a:buClr>
              <a:buSzPts val="1600"/>
              <a:buNone/>
              <a:defRPr sz="1600">
                <a:solidFill>
                  <a:srgbClr val="E9E9E9"/>
                </a:solidFill>
              </a:defRPr>
            </a:lvl5pPr>
            <a:lvl6pPr indent="-228600" lvl="5" marL="2743200" algn="l">
              <a:lnSpc>
                <a:spcPct val="90000"/>
              </a:lnSpc>
              <a:spcBef>
                <a:spcPts val="500"/>
              </a:spcBef>
              <a:spcAft>
                <a:spcPts val="0"/>
              </a:spcAft>
              <a:buClr>
                <a:srgbClr val="E9E9E9"/>
              </a:buClr>
              <a:buSzPts val="1600"/>
              <a:buNone/>
              <a:defRPr sz="1600">
                <a:solidFill>
                  <a:srgbClr val="E9E9E9"/>
                </a:solidFill>
              </a:defRPr>
            </a:lvl6pPr>
            <a:lvl7pPr indent="-228600" lvl="6" marL="3200400" algn="l">
              <a:lnSpc>
                <a:spcPct val="90000"/>
              </a:lnSpc>
              <a:spcBef>
                <a:spcPts val="500"/>
              </a:spcBef>
              <a:spcAft>
                <a:spcPts val="0"/>
              </a:spcAft>
              <a:buClr>
                <a:srgbClr val="E9E9E9"/>
              </a:buClr>
              <a:buSzPts val="1600"/>
              <a:buNone/>
              <a:defRPr sz="1600">
                <a:solidFill>
                  <a:srgbClr val="E9E9E9"/>
                </a:solidFill>
              </a:defRPr>
            </a:lvl7pPr>
            <a:lvl8pPr indent="-228600" lvl="7" marL="3657600" algn="l">
              <a:lnSpc>
                <a:spcPct val="90000"/>
              </a:lnSpc>
              <a:spcBef>
                <a:spcPts val="500"/>
              </a:spcBef>
              <a:spcAft>
                <a:spcPts val="0"/>
              </a:spcAft>
              <a:buClr>
                <a:srgbClr val="E9E9E9"/>
              </a:buClr>
              <a:buSzPts val="1600"/>
              <a:buNone/>
              <a:defRPr sz="1600">
                <a:solidFill>
                  <a:srgbClr val="E9E9E9"/>
                </a:solidFill>
              </a:defRPr>
            </a:lvl8pPr>
            <a:lvl9pPr indent="-228600" lvl="8" marL="4114800" algn="l">
              <a:lnSpc>
                <a:spcPct val="90000"/>
              </a:lnSpc>
              <a:spcBef>
                <a:spcPts val="500"/>
              </a:spcBef>
              <a:spcAft>
                <a:spcPts val="0"/>
              </a:spcAft>
              <a:buClr>
                <a:srgbClr val="E9E9E9"/>
              </a:buClr>
              <a:buSzPts val="1600"/>
              <a:buNone/>
              <a:defRPr sz="1600">
                <a:solidFill>
                  <a:srgbClr val="E9E9E9"/>
                </a:solidFill>
              </a:defRPr>
            </a:lvl9pPr>
          </a:lstStyle>
          <a:p/>
        </p:txBody>
      </p:sp>
      <p:sp>
        <p:nvSpPr>
          <p:cNvPr id="30" name="Google Shape;30;p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5"/>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 name="Google Shape;37;p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3" name="Google Shape;43;p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4" name="Google Shape;44;p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5" name="Google Shape;45;p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6" name="Google Shape;46;p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61" name="Google Shape;61;p9"/>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2" name="Google Shape;62;p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500"/>
          </a:xfrm>
          <a:prstGeom prst="rect">
            <a:avLst/>
          </a:prstGeom>
          <a:noFill/>
          <a:ln>
            <a:noFill/>
          </a:ln>
        </p:spPr>
      </p:sp>
      <p:sp>
        <p:nvSpPr>
          <p:cNvPr id="68" name="Google Shape;68;p10"/>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9" name="Google Shape;69;p1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5" name="Google Shape;75;p1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1" name="Google Shape;81;p1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lt1"/>
              </a:buClr>
              <a:buSzPts val="4400"/>
              <a:buFont typeface="Play"/>
              <a:buNone/>
              <a:defRPr b="0" i="0" sz="4400" u="none" cap="none" strike="noStrik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12" name="Google Shape;12;p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E9E9E9"/>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E9E9E9"/>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4" name="Google Shape;14;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E9E9E9"/>
                </a:solidFill>
                <a:latin typeface="Arial"/>
                <a:ea typeface="Arial"/>
                <a:cs typeface="Arial"/>
                <a:sym typeface="Arial"/>
              </a:defRPr>
            </a:lvl1pPr>
            <a:lvl2pPr indent="0" lvl="1" marL="0" marR="0" algn="r">
              <a:spcBef>
                <a:spcPts val="0"/>
              </a:spcBef>
              <a:buNone/>
              <a:defRPr b="0" i="0" sz="1200" u="none" cap="none" strike="noStrike">
                <a:solidFill>
                  <a:srgbClr val="E9E9E9"/>
                </a:solidFill>
                <a:latin typeface="Arial"/>
                <a:ea typeface="Arial"/>
                <a:cs typeface="Arial"/>
                <a:sym typeface="Arial"/>
              </a:defRPr>
            </a:lvl2pPr>
            <a:lvl3pPr indent="0" lvl="2" marL="0" marR="0" algn="r">
              <a:spcBef>
                <a:spcPts val="0"/>
              </a:spcBef>
              <a:buNone/>
              <a:defRPr b="0" i="0" sz="1200" u="none" cap="none" strike="noStrike">
                <a:solidFill>
                  <a:srgbClr val="E9E9E9"/>
                </a:solidFill>
                <a:latin typeface="Arial"/>
                <a:ea typeface="Arial"/>
                <a:cs typeface="Arial"/>
                <a:sym typeface="Arial"/>
              </a:defRPr>
            </a:lvl3pPr>
            <a:lvl4pPr indent="0" lvl="3" marL="0" marR="0" algn="r">
              <a:spcBef>
                <a:spcPts val="0"/>
              </a:spcBef>
              <a:buNone/>
              <a:defRPr b="0" i="0" sz="1200" u="none" cap="none" strike="noStrike">
                <a:solidFill>
                  <a:srgbClr val="E9E9E9"/>
                </a:solidFill>
                <a:latin typeface="Arial"/>
                <a:ea typeface="Arial"/>
                <a:cs typeface="Arial"/>
                <a:sym typeface="Arial"/>
              </a:defRPr>
            </a:lvl4pPr>
            <a:lvl5pPr indent="0" lvl="4" marL="0" marR="0" algn="r">
              <a:spcBef>
                <a:spcPts val="0"/>
              </a:spcBef>
              <a:buNone/>
              <a:defRPr b="0" i="0" sz="1200" u="none" cap="none" strike="noStrike">
                <a:solidFill>
                  <a:srgbClr val="E9E9E9"/>
                </a:solidFill>
                <a:latin typeface="Arial"/>
                <a:ea typeface="Arial"/>
                <a:cs typeface="Arial"/>
                <a:sym typeface="Arial"/>
              </a:defRPr>
            </a:lvl5pPr>
            <a:lvl6pPr indent="0" lvl="5" marL="0" marR="0" algn="r">
              <a:spcBef>
                <a:spcPts val="0"/>
              </a:spcBef>
              <a:buNone/>
              <a:defRPr b="0" i="0" sz="1200" u="none" cap="none" strike="noStrike">
                <a:solidFill>
                  <a:srgbClr val="E9E9E9"/>
                </a:solidFill>
                <a:latin typeface="Arial"/>
                <a:ea typeface="Arial"/>
                <a:cs typeface="Arial"/>
                <a:sym typeface="Arial"/>
              </a:defRPr>
            </a:lvl6pPr>
            <a:lvl7pPr indent="0" lvl="6" marL="0" marR="0" algn="r">
              <a:spcBef>
                <a:spcPts val="0"/>
              </a:spcBef>
              <a:buNone/>
              <a:defRPr b="0" i="0" sz="1200" u="none" cap="none" strike="noStrike">
                <a:solidFill>
                  <a:srgbClr val="E9E9E9"/>
                </a:solidFill>
                <a:latin typeface="Arial"/>
                <a:ea typeface="Arial"/>
                <a:cs typeface="Arial"/>
                <a:sym typeface="Arial"/>
              </a:defRPr>
            </a:lvl7pPr>
            <a:lvl8pPr indent="0" lvl="7" marL="0" marR="0" algn="r">
              <a:spcBef>
                <a:spcPts val="0"/>
              </a:spcBef>
              <a:buNone/>
              <a:defRPr b="0" i="0" sz="1200" u="none" cap="none" strike="noStrike">
                <a:solidFill>
                  <a:srgbClr val="E9E9E9"/>
                </a:solidFill>
                <a:latin typeface="Arial"/>
                <a:ea typeface="Arial"/>
                <a:cs typeface="Arial"/>
                <a:sym typeface="Arial"/>
              </a:defRPr>
            </a:lvl8pPr>
            <a:lvl9pPr indent="0" lvl="8" marL="0" marR="0" algn="r">
              <a:spcBef>
                <a:spcPts val="0"/>
              </a:spcBef>
              <a:buNone/>
              <a:defRPr b="0" i="0" sz="1200" u="none" cap="none" strike="noStrike">
                <a:solidFill>
                  <a:srgbClr val="E9E9E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7" name="Shape 87"/>
        <p:cNvGrpSpPr/>
        <p:nvPr/>
      </p:nvGrpSpPr>
      <p:grpSpPr>
        <a:xfrm>
          <a:off x="0" y="0"/>
          <a:ext cx="0" cy="0"/>
          <a:chOff x="0" y="0"/>
          <a:chExt cx="0" cy="0"/>
        </a:xfrm>
      </p:grpSpPr>
      <p:sp>
        <p:nvSpPr>
          <p:cNvPr id="88" name="Google Shape;88;p13"/>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9" name="Google Shape;89;p13"/>
          <p:cNvSpPr/>
          <p:nvPr/>
        </p:nvSpPr>
        <p:spPr>
          <a:xfrm>
            <a:off x="1114425" y="0"/>
            <a:ext cx="9963150"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dk1"/>
          </a:solidFill>
          <a:ln cap="flat" cmpd="sng" w="9525">
            <a:solidFill>
              <a:srgbClr val="EFEFEF"/>
            </a:solidFill>
            <a:prstDash val="solid"/>
            <a:miter lim="800000"/>
            <a:headEnd len="sm" w="sm" type="none"/>
            <a:tailEnd len="sm" w="sm" type="none"/>
          </a:ln>
          <a:effectLst>
            <a:outerShdw blurRad="139700" sx="102000" rotWithShape="0" algn="ctr" sy="102000">
              <a:schemeClr val="dk1">
                <a:alpha val="37647"/>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0" name="Google Shape;90;p13"/>
          <p:cNvSpPr/>
          <p:nvPr/>
        </p:nvSpPr>
        <p:spPr>
          <a:xfrm>
            <a:off x="1121664" y="0"/>
            <a:ext cx="9938242" cy="68580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1" name="Google Shape;91;p13"/>
          <p:cNvSpPr txBox="1"/>
          <p:nvPr>
            <p:ph type="ctrTitle"/>
          </p:nvPr>
        </p:nvSpPr>
        <p:spPr>
          <a:xfrm>
            <a:off x="1524003" y="1999615"/>
            <a:ext cx="9144000" cy="2763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100"/>
              <a:buFont typeface="Play"/>
              <a:buNone/>
            </a:pPr>
            <a:r>
              <a:rPr b="1" lang="en-US" sz="6100"/>
              <a:t>SER598 Project Presentation</a:t>
            </a:r>
            <a:br>
              <a:rPr b="1" lang="en-US" sz="6100"/>
            </a:br>
            <a:endParaRPr sz="6100"/>
          </a:p>
        </p:txBody>
      </p:sp>
      <p:sp>
        <p:nvSpPr>
          <p:cNvPr id="92" name="Google Shape;92;p13"/>
          <p:cNvSpPr txBox="1"/>
          <p:nvPr>
            <p:ph idx="1" type="subTitle"/>
          </p:nvPr>
        </p:nvSpPr>
        <p:spPr>
          <a:xfrm>
            <a:off x="1966900" y="5420175"/>
            <a:ext cx="8258100" cy="856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2800"/>
              <a:buNone/>
            </a:pPr>
            <a:r>
              <a:rPr b="1" lang="en-US" sz="2800"/>
              <a:t>Advanced Browser Features: Web Extensions</a:t>
            </a:r>
            <a:endParaRPr b="1"/>
          </a:p>
        </p:txBody>
      </p:sp>
      <p:sp>
        <p:nvSpPr>
          <p:cNvPr id="93" name="Google Shape;93;p13"/>
          <p:cNvSpPr/>
          <p:nvPr/>
        </p:nvSpPr>
        <p:spPr>
          <a:xfrm>
            <a:off x="3718560" y="5524786"/>
            <a:ext cx="4754880" cy="27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7" name="Shape 97"/>
        <p:cNvGrpSpPr/>
        <p:nvPr/>
      </p:nvGrpSpPr>
      <p:grpSpPr>
        <a:xfrm>
          <a:off x="0" y="0"/>
          <a:ext cx="0" cy="0"/>
          <a:chOff x="0" y="0"/>
          <a:chExt cx="0" cy="0"/>
        </a:xfrm>
      </p:grpSpPr>
      <p:sp>
        <p:nvSpPr>
          <p:cNvPr id="98" name="Google Shape;98;p14"/>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9" name="Google Shape;99;p14"/>
          <p:cNvSpPr/>
          <p:nvPr/>
        </p:nvSpPr>
        <p:spPr>
          <a:xfrm>
            <a:off x="558209" y="0"/>
            <a:ext cx="11167447" cy="2018806"/>
          </a:xfrm>
          <a:prstGeom prst="rect">
            <a:avLst/>
          </a:prstGeom>
          <a:solidFill>
            <a:schemeClr val="dk1"/>
          </a:solidFill>
          <a:ln cap="flat" cmpd="sng" w="9525">
            <a:solidFill>
              <a:srgbClr val="E1E1E1"/>
            </a:solidFill>
            <a:prstDash val="solid"/>
            <a:miter lim="800000"/>
            <a:headEnd len="sm" w="sm" type="none"/>
            <a:tailEnd len="sm" w="sm" type="none"/>
          </a:ln>
          <a:effectLst>
            <a:outerShdw blurRad="50800" rotWithShape="0" algn="tl" dir="2700000" dist="38100">
              <a:schemeClr val="dk1">
                <a:alpha val="4980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0" name="Google Shape;100;p14"/>
          <p:cNvSpPr/>
          <p:nvPr/>
        </p:nvSpPr>
        <p:spPr>
          <a:xfrm>
            <a:off x="566928" y="0"/>
            <a:ext cx="11155680" cy="201168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1" name="Google Shape;101;p14"/>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Play"/>
              <a:buNone/>
            </a:pPr>
            <a:r>
              <a:rPr lang="en-US" sz="4000"/>
              <a:t>A Comprehensive Guide to Browser Extensions</a:t>
            </a:r>
            <a:endParaRPr/>
          </a:p>
        </p:txBody>
      </p:sp>
      <p:sp>
        <p:nvSpPr>
          <p:cNvPr id="102" name="Google Shape;102;p14"/>
          <p:cNvSpPr/>
          <p:nvPr/>
        </p:nvSpPr>
        <p:spPr>
          <a:xfrm>
            <a:off x="498834" y="758952"/>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03" name="Google Shape;103;p14"/>
          <p:cNvSpPr txBox="1"/>
          <p:nvPr>
            <p:ph idx="1" type="body"/>
          </p:nvPr>
        </p:nvSpPr>
        <p:spPr>
          <a:xfrm>
            <a:off x="1115568" y="2481943"/>
            <a:ext cx="10168128" cy="36950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Char char="•"/>
            </a:pPr>
            <a:r>
              <a:rPr b="1" lang="en-US" sz="2000"/>
              <a:t>Core Objective:</a:t>
            </a:r>
            <a:r>
              <a:rPr lang="en-US" sz="2000"/>
              <a:t> To teach developers exactly </a:t>
            </a:r>
            <a:r>
              <a:rPr i="1" lang="en-US" sz="2000"/>
              <a:t>what</a:t>
            </a:r>
            <a:r>
              <a:rPr lang="en-US" sz="2000"/>
              <a:t> browser extensions are and </a:t>
            </a:r>
            <a:r>
              <a:rPr i="1" lang="en-US" sz="2000"/>
              <a:t>how</a:t>
            </a:r>
            <a:r>
              <a:rPr lang="en-US" sz="2000"/>
              <a:t> to build them from scratch.</a:t>
            </a:r>
            <a:endParaRPr/>
          </a:p>
          <a:p>
            <a:pPr indent="-228600" lvl="0" marL="228600" rtl="0" algn="l">
              <a:lnSpc>
                <a:spcPct val="90000"/>
              </a:lnSpc>
              <a:spcBef>
                <a:spcPts val="1000"/>
              </a:spcBef>
              <a:spcAft>
                <a:spcPts val="0"/>
              </a:spcAft>
              <a:buClr>
                <a:schemeClr val="lt1"/>
              </a:buClr>
              <a:buSzPts val="2000"/>
              <a:buChar char="•"/>
            </a:pPr>
            <a:r>
              <a:rPr b="1" lang="en-US" sz="2000"/>
              <a:t>Phase 1: Getting Started:</a:t>
            </a:r>
            <a:endParaRPr sz="2000"/>
          </a:p>
          <a:p>
            <a:pPr indent="-228600" lvl="1" marL="685800" rtl="0" algn="l">
              <a:lnSpc>
                <a:spcPct val="90000"/>
              </a:lnSpc>
              <a:spcBef>
                <a:spcPts val="500"/>
              </a:spcBef>
              <a:spcAft>
                <a:spcPts val="0"/>
              </a:spcAft>
              <a:buClr>
                <a:schemeClr val="lt1"/>
              </a:buClr>
              <a:buSzPts val="2000"/>
              <a:buChar char="•"/>
            </a:pPr>
            <a:r>
              <a:rPr lang="en-US" sz="2000"/>
              <a:t>A comprehensive "Follow Along" tutorial.</a:t>
            </a:r>
            <a:endParaRPr/>
          </a:p>
          <a:p>
            <a:pPr indent="-228600" lvl="1" marL="685800" rtl="0" algn="l">
              <a:lnSpc>
                <a:spcPct val="90000"/>
              </a:lnSpc>
              <a:spcBef>
                <a:spcPts val="500"/>
              </a:spcBef>
              <a:spcAft>
                <a:spcPts val="0"/>
              </a:spcAft>
              <a:buClr>
                <a:schemeClr val="lt1"/>
              </a:buClr>
              <a:buSzPts val="2000"/>
              <a:buChar char="•"/>
            </a:pPr>
            <a:r>
              <a:rPr lang="en-US" sz="2000"/>
              <a:t>Building a basic extension to understand the architecture.</a:t>
            </a:r>
            <a:endParaRPr/>
          </a:p>
          <a:p>
            <a:pPr indent="-228600" lvl="0" marL="228600" rtl="0" algn="l">
              <a:lnSpc>
                <a:spcPct val="90000"/>
              </a:lnSpc>
              <a:spcBef>
                <a:spcPts val="1000"/>
              </a:spcBef>
              <a:spcAft>
                <a:spcPts val="0"/>
              </a:spcAft>
              <a:buClr>
                <a:schemeClr val="lt1"/>
              </a:buClr>
              <a:buSzPts val="2000"/>
              <a:buChar char="•"/>
            </a:pPr>
            <a:r>
              <a:rPr b="1" lang="en-US" sz="2000"/>
              <a:t>Phase 2: Capabilities:</a:t>
            </a:r>
            <a:endParaRPr sz="2000"/>
          </a:p>
          <a:p>
            <a:pPr indent="-228600" lvl="1" marL="685800" rtl="0" algn="l">
              <a:lnSpc>
                <a:spcPct val="90000"/>
              </a:lnSpc>
              <a:spcBef>
                <a:spcPts val="500"/>
              </a:spcBef>
              <a:spcAft>
                <a:spcPts val="0"/>
              </a:spcAft>
              <a:buClr>
                <a:schemeClr val="lt1"/>
              </a:buClr>
              <a:buSzPts val="2000"/>
              <a:buChar char="•"/>
            </a:pPr>
            <a:r>
              <a:rPr lang="en-US" sz="2000"/>
              <a:t>exploring what modern extensions can actually </a:t>
            </a:r>
            <a:r>
              <a:rPr i="1" lang="en-US" sz="2000"/>
              <a:t>do</a:t>
            </a:r>
            <a:r>
              <a:rPr lang="en-US" sz="2000"/>
              <a:t> (beyond just bookmarks).</a:t>
            </a:r>
            <a:endParaRPr/>
          </a:p>
          <a:p>
            <a:pPr indent="-228600" lvl="0" marL="228600" rtl="0" algn="l">
              <a:lnSpc>
                <a:spcPct val="90000"/>
              </a:lnSpc>
              <a:spcBef>
                <a:spcPts val="1000"/>
              </a:spcBef>
              <a:spcAft>
                <a:spcPts val="0"/>
              </a:spcAft>
              <a:buClr>
                <a:schemeClr val="lt1"/>
              </a:buClr>
              <a:buSzPts val="2000"/>
              <a:buChar char="•"/>
            </a:pPr>
            <a:r>
              <a:rPr b="1" lang="en-US" sz="2000"/>
              <a:t>Phase 3: Real-Time Analytics:</a:t>
            </a:r>
            <a:endParaRPr sz="2000"/>
          </a:p>
          <a:p>
            <a:pPr indent="-228600" lvl="1" marL="685800" rtl="0" algn="l">
              <a:lnSpc>
                <a:spcPct val="90000"/>
              </a:lnSpc>
              <a:spcBef>
                <a:spcPts val="500"/>
              </a:spcBef>
              <a:spcAft>
                <a:spcPts val="0"/>
              </a:spcAft>
              <a:buClr>
                <a:schemeClr val="lt1"/>
              </a:buClr>
              <a:buSzPts val="2000"/>
              <a:buChar char="•"/>
            </a:pPr>
            <a:r>
              <a:rPr b="1" lang="en-US" sz="2000"/>
              <a:t>The Final Build:</a:t>
            </a:r>
            <a:r>
              <a:rPr lang="en-US" sz="2000"/>
              <a:t> Creating a powerful tool that monitors and visualizes network traffic in real-time.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grpSp>
        <p:nvGrpSpPr>
          <p:cNvPr id="108" name="Google Shape;108;p15"/>
          <p:cNvGrpSpPr/>
          <p:nvPr/>
        </p:nvGrpSpPr>
        <p:grpSpPr>
          <a:xfrm>
            <a:off x="1184847" y="1837348"/>
            <a:ext cx="9822304" cy="3183302"/>
            <a:chOff x="2434" y="1192276"/>
            <a:chExt cx="9822304" cy="3183302"/>
          </a:xfrm>
        </p:grpSpPr>
        <p:sp>
          <p:nvSpPr>
            <p:cNvPr id="109" name="Google Shape;109;p15"/>
            <p:cNvSpPr/>
            <p:nvPr/>
          </p:nvSpPr>
          <p:spPr>
            <a:xfrm>
              <a:off x="2434" y="1192276"/>
              <a:ext cx="1026210" cy="1026210"/>
            </a:xfrm>
            <a:prstGeom prst="rect">
              <a:avLst/>
            </a:prstGeom>
            <a:blipFill rotWithShape="1">
              <a:blip r:embed="rId3">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2434" y="2355369"/>
              <a:ext cx="2932031" cy="4398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5"/>
            <p:cNvSpPr txBox="1"/>
            <p:nvPr/>
          </p:nvSpPr>
          <p:spPr>
            <a:xfrm>
              <a:off x="2434" y="2355369"/>
              <a:ext cx="2932031" cy="4398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2300"/>
                <a:buFont typeface="Arial"/>
                <a:buNone/>
              </a:pPr>
              <a:r>
                <a:rPr b="1" i="0" lang="en-US" sz="2300" u="none" cap="none" strike="noStrike">
                  <a:solidFill>
                    <a:schemeClr val="lt1"/>
                  </a:solidFill>
                  <a:latin typeface="Arial"/>
                  <a:ea typeface="Arial"/>
                  <a:cs typeface="Arial"/>
                  <a:sym typeface="Arial"/>
                </a:rPr>
                <a:t>What is an Extension?</a:t>
              </a:r>
              <a:endParaRPr b="0" i="0" sz="2300" u="none" cap="none" strike="noStrike">
                <a:solidFill>
                  <a:schemeClr val="lt1"/>
                </a:solidFill>
                <a:latin typeface="Arial"/>
                <a:ea typeface="Arial"/>
                <a:cs typeface="Arial"/>
                <a:sym typeface="Arial"/>
              </a:endParaRPr>
            </a:p>
          </p:txBody>
        </p:sp>
        <p:sp>
          <p:nvSpPr>
            <p:cNvPr id="112" name="Google Shape;112;p15"/>
            <p:cNvSpPr/>
            <p:nvPr/>
          </p:nvSpPr>
          <p:spPr>
            <a:xfrm>
              <a:off x="2434" y="2858840"/>
              <a:ext cx="2932031" cy="151673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txBox="1"/>
            <p:nvPr/>
          </p:nvSpPr>
          <p:spPr>
            <a:xfrm>
              <a:off x="2437" y="3174978"/>
              <a:ext cx="2931900" cy="1200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700"/>
                <a:buFont typeface="Arial"/>
                <a:buNone/>
              </a:pPr>
              <a:r>
                <a:rPr b="0" i="0" lang="en-US" sz="1700" u="none" cap="none" strike="noStrike">
                  <a:solidFill>
                    <a:schemeClr val="lt1"/>
                  </a:solidFill>
                  <a:latin typeface="Arial"/>
                  <a:ea typeface="Arial"/>
                  <a:cs typeface="Arial"/>
                  <a:sym typeface="Arial"/>
                </a:rPr>
                <a:t>It's basically just a </a:t>
              </a:r>
              <a:r>
                <a:rPr b="1" i="0" lang="en-US" sz="1700" u="none" cap="none" strike="noStrike">
                  <a:solidFill>
                    <a:schemeClr val="lt1"/>
                  </a:solidFill>
                  <a:latin typeface="Arial"/>
                  <a:ea typeface="Arial"/>
                  <a:cs typeface="Arial"/>
                  <a:sym typeface="Arial"/>
                </a:rPr>
                <a:t>small website</a:t>
              </a:r>
              <a:r>
                <a:rPr b="0" i="0" lang="en-US" sz="1700" u="none" cap="none" strike="noStrike">
                  <a:solidFill>
                    <a:schemeClr val="lt1"/>
                  </a:solidFill>
                  <a:latin typeface="Arial"/>
                  <a:ea typeface="Arial"/>
                  <a:cs typeface="Arial"/>
                  <a:sym typeface="Arial"/>
                </a:rPr>
                <a:t> that lives inside your browser.</a:t>
              </a:r>
              <a:endParaRPr/>
            </a:p>
          </p:txBody>
        </p:sp>
        <p:sp>
          <p:nvSpPr>
            <p:cNvPr id="114" name="Google Shape;114;p15"/>
            <p:cNvSpPr/>
            <p:nvPr/>
          </p:nvSpPr>
          <p:spPr>
            <a:xfrm>
              <a:off x="3447570" y="1192276"/>
              <a:ext cx="1026210" cy="1026210"/>
            </a:xfrm>
            <a:prstGeom prst="rect">
              <a:avLst/>
            </a:prstGeom>
            <a:blipFill rotWithShape="1">
              <a:blip r:embed="rId4">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3447570" y="2355369"/>
              <a:ext cx="2932031" cy="4398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txBox="1"/>
            <p:nvPr/>
          </p:nvSpPr>
          <p:spPr>
            <a:xfrm>
              <a:off x="3447570" y="2355369"/>
              <a:ext cx="2932031" cy="4398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2300"/>
                <a:buFont typeface="Arial"/>
                <a:buNone/>
              </a:pPr>
              <a:r>
                <a:rPr b="1" i="0" lang="en-US" sz="2300" u="none" cap="none" strike="noStrike">
                  <a:solidFill>
                    <a:schemeClr val="lt1"/>
                  </a:solidFill>
                  <a:latin typeface="Arial"/>
                  <a:ea typeface="Arial"/>
                  <a:cs typeface="Arial"/>
                  <a:sym typeface="Arial"/>
                </a:rPr>
                <a:t>The 3 Ingredients:</a:t>
              </a:r>
              <a:endParaRPr b="0" i="0" sz="2300" u="none" cap="none" strike="noStrike">
                <a:solidFill>
                  <a:schemeClr val="lt1"/>
                </a:solidFill>
                <a:latin typeface="Arial"/>
                <a:ea typeface="Arial"/>
                <a:cs typeface="Arial"/>
                <a:sym typeface="Arial"/>
              </a:endParaRPr>
            </a:p>
          </p:txBody>
        </p:sp>
        <p:sp>
          <p:nvSpPr>
            <p:cNvPr id="117" name="Google Shape;117;p15"/>
            <p:cNvSpPr/>
            <p:nvPr/>
          </p:nvSpPr>
          <p:spPr>
            <a:xfrm>
              <a:off x="3447570" y="2858840"/>
              <a:ext cx="2932031" cy="151673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txBox="1"/>
            <p:nvPr/>
          </p:nvSpPr>
          <p:spPr>
            <a:xfrm>
              <a:off x="3447570" y="2858840"/>
              <a:ext cx="2932031" cy="151673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Manifest File:</a:t>
              </a:r>
              <a:r>
                <a:rPr b="0" i="0" lang="en-US" sz="1700" u="none" cap="none" strike="noStrike">
                  <a:solidFill>
                    <a:schemeClr val="lt1"/>
                  </a:solidFill>
                  <a:latin typeface="Arial"/>
                  <a:ea typeface="Arial"/>
                  <a:cs typeface="Arial"/>
                  <a:sym typeface="Arial"/>
                </a:rPr>
                <a:t> The settings &amp; permissions.</a:t>
              </a:r>
              <a:endParaRPr/>
            </a:p>
            <a:p>
              <a:pPr indent="0" lvl="0" marL="0" marR="0" rtl="0" algn="l">
                <a:lnSpc>
                  <a:spcPct val="100000"/>
                </a:lnSpc>
                <a:spcBef>
                  <a:spcPts val="595"/>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Scripts:</a:t>
              </a:r>
              <a:r>
                <a:rPr b="0" i="0" lang="en-US" sz="1700" u="none" cap="none" strike="noStrike">
                  <a:solidFill>
                    <a:schemeClr val="lt1"/>
                  </a:solidFill>
                  <a:latin typeface="Arial"/>
                  <a:ea typeface="Arial"/>
                  <a:cs typeface="Arial"/>
                  <a:sym typeface="Arial"/>
                </a:rPr>
                <a:t> The logic (JavaScript).</a:t>
              </a:r>
              <a:endParaRPr/>
            </a:p>
            <a:p>
              <a:pPr indent="0" lvl="0" marL="0" marR="0" rtl="0" algn="l">
                <a:lnSpc>
                  <a:spcPct val="100000"/>
                </a:lnSpc>
                <a:spcBef>
                  <a:spcPts val="595"/>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Popup:</a:t>
              </a:r>
              <a:r>
                <a:rPr b="0" i="0" lang="en-US" sz="1700" u="none" cap="none" strike="noStrike">
                  <a:solidFill>
                    <a:schemeClr val="lt1"/>
                  </a:solidFill>
                  <a:latin typeface="Arial"/>
                  <a:ea typeface="Arial"/>
                  <a:cs typeface="Arial"/>
                  <a:sym typeface="Arial"/>
                </a:rPr>
                <a:t> The look &amp; feel (HTML/CSS).</a:t>
              </a:r>
              <a:endParaRPr/>
            </a:p>
          </p:txBody>
        </p:sp>
        <p:sp>
          <p:nvSpPr>
            <p:cNvPr id="119" name="Google Shape;119;p15"/>
            <p:cNvSpPr/>
            <p:nvPr/>
          </p:nvSpPr>
          <p:spPr>
            <a:xfrm>
              <a:off x="6892707" y="1192276"/>
              <a:ext cx="1026210" cy="1026210"/>
            </a:xfrm>
            <a:prstGeom prst="rect">
              <a:avLst/>
            </a:prstGeom>
            <a:blipFill rotWithShape="1">
              <a:blip r:embed="rId5">
                <a:alphaModFix/>
              </a:blip>
              <a:stretch>
                <a:fillRect b="0" l="0" r="0" t="0"/>
              </a:stretch>
            </a:blip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6892707" y="2355369"/>
              <a:ext cx="2932031" cy="4398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txBox="1"/>
            <p:nvPr/>
          </p:nvSpPr>
          <p:spPr>
            <a:xfrm>
              <a:off x="6892707" y="2355369"/>
              <a:ext cx="2932031" cy="4398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2300"/>
                <a:buFont typeface="Arial"/>
                <a:buNone/>
              </a:pPr>
              <a:r>
                <a:rPr b="1" i="0" lang="en-US" sz="2300" u="none" cap="none" strike="noStrike">
                  <a:solidFill>
                    <a:schemeClr val="lt1"/>
                  </a:solidFill>
                  <a:latin typeface="Arial"/>
                  <a:ea typeface="Arial"/>
                  <a:cs typeface="Arial"/>
                  <a:sym typeface="Arial"/>
                </a:rPr>
                <a:t>How to Run It:</a:t>
              </a:r>
              <a:endParaRPr b="0" i="0" sz="2300" u="none" cap="none" strike="noStrike">
                <a:solidFill>
                  <a:schemeClr val="lt1"/>
                </a:solidFill>
                <a:latin typeface="Arial"/>
                <a:ea typeface="Arial"/>
                <a:cs typeface="Arial"/>
                <a:sym typeface="Arial"/>
              </a:endParaRPr>
            </a:p>
          </p:txBody>
        </p:sp>
        <p:sp>
          <p:nvSpPr>
            <p:cNvPr id="122" name="Google Shape;122;p15"/>
            <p:cNvSpPr/>
            <p:nvPr/>
          </p:nvSpPr>
          <p:spPr>
            <a:xfrm>
              <a:off x="6892707" y="2858840"/>
              <a:ext cx="2932031" cy="151673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5"/>
            <p:cNvSpPr txBox="1"/>
            <p:nvPr/>
          </p:nvSpPr>
          <p:spPr>
            <a:xfrm>
              <a:off x="6892707" y="2858840"/>
              <a:ext cx="2932031" cy="1516737"/>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700"/>
                <a:buFont typeface="Arial"/>
                <a:buNone/>
              </a:pPr>
              <a:r>
                <a:rPr b="0" i="0" lang="en-US" sz="1700" u="none" cap="none" strike="noStrike">
                  <a:solidFill>
                    <a:schemeClr val="lt1"/>
                  </a:solidFill>
                  <a:latin typeface="Arial"/>
                  <a:ea typeface="Arial"/>
                  <a:cs typeface="Arial"/>
                  <a:sym typeface="Arial"/>
                </a:rPr>
                <a:t>Turn on "Developer Mode" in Chrome.</a:t>
              </a:r>
              <a:endParaRPr/>
            </a:p>
            <a:p>
              <a:pPr indent="0" lvl="0" marL="0" marR="0" rtl="0" algn="l">
                <a:lnSpc>
                  <a:spcPct val="100000"/>
                </a:lnSpc>
                <a:spcBef>
                  <a:spcPts val="595"/>
                </a:spcBef>
                <a:spcAft>
                  <a:spcPts val="0"/>
                </a:spcAft>
                <a:buClr>
                  <a:schemeClr val="lt1"/>
                </a:buClr>
                <a:buSzPts val="1700"/>
                <a:buFont typeface="Arial"/>
                <a:buNone/>
              </a:pPr>
              <a:r>
                <a:rPr b="0" i="0" lang="en-US" sz="1700" u="none" cap="none" strike="noStrike">
                  <a:solidFill>
                    <a:schemeClr val="lt1"/>
                  </a:solidFill>
                  <a:latin typeface="Arial"/>
                  <a:ea typeface="Arial"/>
                  <a:cs typeface="Arial"/>
                  <a:sym typeface="Arial"/>
                </a:rPr>
                <a:t>Click "Load Unpacked".</a:t>
              </a:r>
              <a:endParaRPr/>
            </a:p>
            <a:p>
              <a:pPr indent="0" lvl="0" marL="0" marR="0" rtl="0" algn="l">
                <a:lnSpc>
                  <a:spcPct val="100000"/>
                </a:lnSpc>
                <a:spcBef>
                  <a:spcPts val="595"/>
                </a:spcBef>
                <a:spcAft>
                  <a:spcPts val="0"/>
                </a:spcAft>
                <a:buClr>
                  <a:schemeClr val="lt1"/>
                </a:buClr>
                <a:buSzPts val="1700"/>
                <a:buFont typeface="Arial"/>
                <a:buNone/>
              </a:pPr>
              <a:r>
                <a:rPr b="0" i="0" lang="en-US" sz="1700" u="none" cap="none" strike="noStrike">
                  <a:solidFill>
                    <a:schemeClr val="lt1"/>
                  </a:solidFill>
                  <a:latin typeface="Arial"/>
                  <a:ea typeface="Arial"/>
                  <a:cs typeface="Arial"/>
                  <a:sym typeface="Arial"/>
                </a:rPr>
                <a:t>Done!</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8" name="Shape 128"/>
        <p:cNvGrpSpPr/>
        <p:nvPr/>
      </p:nvGrpSpPr>
      <p:grpSpPr>
        <a:xfrm>
          <a:off x="0" y="0"/>
          <a:ext cx="0" cy="0"/>
          <a:chOff x="0" y="0"/>
          <a:chExt cx="0" cy="0"/>
        </a:xfrm>
      </p:grpSpPr>
      <p:sp>
        <p:nvSpPr>
          <p:cNvPr id="129" name="Google Shape;129;p16"/>
          <p:cNvSpPr/>
          <p:nvPr/>
        </p:nvSpPr>
        <p:spPr>
          <a:xfrm>
            <a:off x="0" y="0"/>
            <a:ext cx="12188952"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0" name="Google Shape;130;p16"/>
          <p:cNvSpPr txBox="1"/>
          <p:nvPr>
            <p:ph type="title"/>
          </p:nvPr>
        </p:nvSpPr>
        <p:spPr>
          <a:xfrm>
            <a:off x="638881" y="670218"/>
            <a:ext cx="10909640" cy="1065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600"/>
              <a:buFont typeface="Play"/>
              <a:buNone/>
            </a:pPr>
            <a:r>
              <a:rPr lang="en-US" sz="4600"/>
              <a:t>Code for manifest.json, popup.html, pop.js</a:t>
            </a:r>
            <a:endParaRPr/>
          </a:p>
        </p:txBody>
      </p:sp>
      <p:sp>
        <p:nvSpPr>
          <p:cNvPr id="131" name="Google Shape;131;p16"/>
          <p:cNvSpPr/>
          <p:nvPr/>
        </p:nvSpPr>
        <p:spPr>
          <a:xfrm>
            <a:off x="3389376" y="1800088"/>
            <a:ext cx="5410200" cy="18288"/>
          </a:xfrm>
          <a:custGeom>
            <a:rect b="b" l="l" r="r" t="t"/>
            <a:pathLst>
              <a:path extrusionOk="0" fill="none" h="18288" w="541020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extrusionOk="0" h="18288" w="541020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A screen shot of a computer code&#10;&#10;AI-generated content may be incorrect." id="132" name="Google Shape;132;p16"/>
          <p:cNvPicPr preferRelativeResize="0"/>
          <p:nvPr>
            <p:ph idx="1" type="body"/>
          </p:nvPr>
        </p:nvPicPr>
        <p:blipFill rotWithShape="1">
          <a:blip r:embed="rId3">
            <a:alphaModFix/>
          </a:blip>
          <a:srcRect b="0" l="0" r="0" t="0"/>
          <a:stretch/>
        </p:blipFill>
        <p:spPr>
          <a:xfrm>
            <a:off x="292608" y="3203092"/>
            <a:ext cx="3758184" cy="2433424"/>
          </a:xfrm>
          <a:prstGeom prst="rect">
            <a:avLst/>
          </a:prstGeom>
          <a:noFill/>
          <a:ln>
            <a:noFill/>
          </a:ln>
        </p:spPr>
      </p:pic>
      <p:pic>
        <p:nvPicPr>
          <p:cNvPr descr="A screen shot of a computer code&#10;&#10;AI-generated content may be incorrect." id="133" name="Google Shape;133;p16"/>
          <p:cNvPicPr preferRelativeResize="0"/>
          <p:nvPr/>
        </p:nvPicPr>
        <p:blipFill rotWithShape="1">
          <a:blip r:embed="rId4">
            <a:alphaModFix/>
          </a:blip>
          <a:srcRect b="0" l="0" r="0" t="0"/>
          <a:stretch/>
        </p:blipFill>
        <p:spPr>
          <a:xfrm>
            <a:off x="4216908" y="3489654"/>
            <a:ext cx="3758184" cy="1860301"/>
          </a:xfrm>
          <a:prstGeom prst="rect">
            <a:avLst/>
          </a:prstGeom>
          <a:noFill/>
          <a:ln>
            <a:noFill/>
          </a:ln>
        </p:spPr>
      </p:pic>
      <p:pic>
        <p:nvPicPr>
          <p:cNvPr id="134" name="Google Shape;134;p16"/>
          <p:cNvPicPr preferRelativeResize="0"/>
          <p:nvPr/>
        </p:nvPicPr>
        <p:blipFill rotWithShape="1">
          <a:blip r:embed="rId5">
            <a:alphaModFix/>
          </a:blip>
          <a:srcRect b="0" l="0" r="0" t="0"/>
          <a:stretch/>
        </p:blipFill>
        <p:spPr>
          <a:xfrm>
            <a:off x="8141208" y="4090963"/>
            <a:ext cx="3758184" cy="65768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8" name="Shape 138"/>
        <p:cNvGrpSpPr/>
        <p:nvPr/>
      </p:nvGrpSpPr>
      <p:grpSpPr>
        <a:xfrm>
          <a:off x="0" y="0"/>
          <a:ext cx="0" cy="0"/>
          <a:chOff x="0" y="0"/>
          <a:chExt cx="0" cy="0"/>
        </a:xfrm>
      </p:grpSpPr>
      <p:sp>
        <p:nvSpPr>
          <p:cNvPr id="139" name="Google Shape;139;p17"/>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0" name="Google Shape;140;p17"/>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dk1"/>
          </a:solidFill>
          <a:ln cap="flat" cmpd="sng" w="9525">
            <a:solidFill>
              <a:srgbClr val="E6E6E6"/>
            </a:solidFill>
            <a:prstDash val="solid"/>
            <a:miter lim="800000"/>
            <a:headEnd len="sm" w="sm" type="none"/>
            <a:tailEnd len="sm" w="sm" type="none"/>
          </a:ln>
          <a:effectLst>
            <a:outerShdw blurRad="76200" rotWithShape="0" algn="l" dist="38100">
              <a:schemeClr val="dk1">
                <a:alpha val="4980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41" name="Google Shape;141;p17"/>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42" name="Google Shape;142;p17"/>
          <p:cNvSpPr txBox="1"/>
          <p:nvPr>
            <p:ph type="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800"/>
              <a:buFont typeface="Play"/>
              <a:buNone/>
            </a:pPr>
            <a:r>
              <a:rPr lang="en-US" sz="4800">
                <a:solidFill>
                  <a:schemeClr val="lt1"/>
                </a:solidFill>
                <a:latin typeface="Play"/>
                <a:ea typeface="Play"/>
                <a:cs typeface="Play"/>
                <a:sym typeface="Play"/>
              </a:rPr>
              <a:t>How the extension should look and work like</a:t>
            </a:r>
            <a:endParaRPr/>
          </a:p>
        </p:txBody>
      </p:sp>
      <p:sp>
        <p:nvSpPr>
          <p:cNvPr id="143" name="Google Shape;143;p17"/>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44" name="Google Shape;144;p17"/>
          <p:cNvSpPr/>
          <p:nvPr/>
        </p:nvSpPr>
        <p:spPr>
          <a:xfrm>
            <a:off x="481029"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145" name="Google Shape;145;p17"/>
          <p:cNvPicPr preferRelativeResize="0"/>
          <p:nvPr>
            <p:ph idx="1" type="body"/>
          </p:nvPr>
        </p:nvPicPr>
        <p:blipFill rotWithShape="1">
          <a:blip r:embed="rId3">
            <a:alphaModFix/>
          </a:blip>
          <a:srcRect b="0" l="0" r="0" t="0"/>
          <a:stretch/>
        </p:blipFill>
        <p:spPr>
          <a:xfrm>
            <a:off x="5414356" y="1462768"/>
            <a:ext cx="6408836" cy="37812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0" name="Shape 150"/>
        <p:cNvGrpSpPr/>
        <p:nvPr/>
      </p:nvGrpSpPr>
      <p:grpSpPr>
        <a:xfrm>
          <a:off x="0" y="0"/>
          <a:ext cx="0" cy="0"/>
          <a:chOff x="0" y="0"/>
          <a:chExt cx="0" cy="0"/>
        </a:xfrm>
      </p:grpSpPr>
      <p:sp>
        <p:nvSpPr>
          <p:cNvPr id="151" name="Google Shape;151;p18"/>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2" name="Google Shape;152;p18"/>
          <p:cNvSpPr txBox="1"/>
          <p:nvPr/>
        </p:nvSpPr>
        <p:spPr>
          <a:xfrm>
            <a:off x="841248" y="426720"/>
            <a:ext cx="10506456" cy="191914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en-US" sz="6000" u="none" cap="none" strike="noStrike">
                <a:solidFill>
                  <a:schemeClr val="lt1"/>
                </a:solidFill>
                <a:latin typeface="Play"/>
                <a:ea typeface="Play"/>
                <a:cs typeface="Play"/>
                <a:sym typeface="Play"/>
              </a:rPr>
              <a:t>Real World Capabilities</a:t>
            </a:r>
            <a:endParaRPr/>
          </a:p>
        </p:txBody>
      </p:sp>
      <p:sp>
        <p:nvSpPr>
          <p:cNvPr id="153" name="Google Shape;153;p18"/>
          <p:cNvSpPr/>
          <p:nvPr/>
        </p:nvSpPr>
        <p:spPr>
          <a:xfrm>
            <a:off x="865953" y="2899927"/>
            <a:ext cx="1045159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4" name="Google Shape;154;p18"/>
          <p:cNvSpPr/>
          <p:nvPr/>
        </p:nvSpPr>
        <p:spPr>
          <a:xfrm flipH="1" rot="10800000">
            <a:off x="841248" y="2776031"/>
            <a:ext cx="1873457" cy="13716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5" name="Google Shape;155;p18"/>
          <p:cNvSpPr txBox="1"/>
          <p:nvPr>
            <p:ph idx="1" type="body"/>
          </p:nvPr>
        </p:nvSpPr>
        <p:spPr>
          <a:xfrm>
            <a:off x="841248" y="3337269"/>
            <a:ext cx="10509504" cy="290568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Char char="•"/>
            </a:pPr>
            <a:r>
              <a:rPr b="1" lang="en-US" sz="2000"/>
              <a:t>It's More Than Just Popups:</a:t>
            </a:r>
            <a:endParaRPr sz="2000"/>
          </a:p>
          <a:p>
            <a:pPr indent="-228600" lvl="1" marL="685800" rtl="0" algn="l">
              <a:lnSpc>
                <a:spcPct val="90000"/>
              </a:lnSpc>
              <a:spcBef>
                <a:spcPts val="500"/>
              </a:spcBef>
              <a:spcAft>
                <a:spcPts val="0"/>
              </a:spcAft>
              <a:buClr>
                <a:schemeClr val="lt1"/>
              </a:buClr>
              <a:buSzPts val="2000"/>
              <a:buChar char="•"/>
            </a:pPr>
            <a:r>
              <a:rPr lang="en-US" sz="2000"/>
              <a:t>Extensions can interact with the browser in powerful ways.</a:t>
            </a:r>
            <a:endParaRPr/>
          </a:p>
          <a:p>
            <a:pPr indent="-228600" lvl="0" marL="228600" rtl="0" algn="l">
              <a:lnSpc>
                <a:spcPct val="90000"/>
              </a:lnSpc>
              <a:spcBef>
                <a:spcPts val="1000"/>
              </a:spcBef>
              <a:spcAft>
                <a:spcPts val="0"/>
              </a:spcAft>
              <a:buClr>
                <a:schemeClr val="lt1"/>
              </a:buClr>
              <a:buSzPts val="2000"/>
              <a:buChar char="•"/>
            </a:pPr>
            <a:r>
              <a:rPr b="1" lang="en-US" sz="2000"/>
              <a:t>Core Capabilities (The APIs):</a:t>
            </a:r>
            <a:endParaRPr sz="2000"/>
          </a:p>
          <a:p>
            <a:pPr indent="-228600" lvl="1" marL="685800" rtl="0" algn="l">
              <a:lnSpc>
                <a:spcPct val="90000"/>
              </a:lnSpc>
              <a:spcBef>
                <a:spcPts val="500"/>
              </a:spcBef>
              <a:spcAft>
                <a:spcPts val="0"/>
              </a:spcAft>
              <a:buClr>
                <a:schemeClr val="lt1"/>
              </a:buClr>
              <a:buSzPts val="2000"/>
              <a:buChar char="•"/>
            </a:pPr>
            <a:r>
              <a:rPr b="1" lang="en-US" sz="2000"/>
              <a:t>Storage API:</a:t>
            </a:r>
            <a:r>
              <a:rPr lang="en-US" sz="2000"/>
              <a:t> Saving user settings (Syncs across devices).</a:t>
            </a:r>
            <a:endParaRPr/>
          </a:p>
          <a:p>
            <a:pPr indent="-228600" lvl="1" marL="685800" rtl="0" algn="l">
              <a:lnSpc>
                <a:spcPct val="90000"/>
              </a:lnSpc>
              <a:spcBef>
                <a:spcPts val="500"/>
              </a:spcBef>
              <a:spcAft>
                <a:spcPts val="0"/>
              </a:spcAft>
              <a:buClr>
                <a:schemeClr val="lt1"/>
              </a:buClr>
              <a:buSzPts val="2000"/>
              <a:buChar char="•"/>
            </a:pPr>
            <a:r>
              <a:rPr b="1" lang="en-US" sz="2000"/>
              <a:t>Content Scripts:</a:t>
            </a:r>
            <a:r>
              <a:rPr lang="en-US" sz="2000"/>
              <a:t> Injecting code into </a:t>
            </a:r>
            <a:r>
              <a:rPr i="1" lang="en-US" sz="2000"/>
              <a:t>other</a:t>
            </a:r>
            <a:r>
              <a:rPr lang="en-US" sz="2000"/>
              <a:t> </a:t>
            </a:r>
            <a:r>
              <a:rPr lang="en-US" sz="2000"/>
              <a:t>websites (e.g., changing colors on Google.com).</a:t>
            </a:r>
            <a:endParaRPr/>
          </a:p>
          <a:p>
            <a:pPr indent="-228600" lvl="1" marL="685800" rtl="0" algn="l">
              <a:lnSpc>
                <a:spcPct val="90000"/>
              </a:lnSpc>
              <a:spcBef>
                <a:spcPts val="500"/>
              </a:spcBef>
              <a:spcAft>
                <a:spcPts val="0"/>
              </a:spcAft>
              <a:buClr>
                <a:schemeClr val="lt1"/>
              </a:buClr>
              <a:buSzPts val="2000"/>
              <a:buChar char="•"/>
            </a:pPr>
            <a:r>
              <a:rPr b="1" lang="en-US" sz="2000"/>
              <a:t>Context Menus:</a:t>
            </a:r>
            <a:r>
              <a:rPr lang="en-US" sz="2000"/>
              <a:t> Adding custom right-click options.</a:t>
            </a:r>
            <a:endParaRPr/>
          </a:p>
          <a:p>
            <a:pPr indent="-228600" lvl="0" marL="228600" rtl="0" algn="l">
              <a:lnSpc>
                <a:spcPct val="90000"/>
              </a:lnSpc>
              <a:spcBef>
                <a:spcPts val="1000"/>
              </a:spcBef>
              <a:spcAft>
                <a:spcPts val="0"/>
              </a:spcAft>
              <a:buClr>
                <a:schemeClr val="lt1"/>
              </a:buClr>
              <a:buSzPts val="2000"/>
              <a:buChar char="•"/>
            </a:pPr>
            <a:r>
              <a:rPr b="1" lang="en-US" sz="2000"/>
              <a:t>The Foundation:</a:t>
            </a:r>
            <a:r>
              <a:rPr lang="en-US" sz="2000"/>
              <a:t> Use these building blocks to create complex apps.</a:t>
            </a:r>
            <a:endParaRPr/>
          </a:p>
          <a:p>
            <a:pPr indent="-101600" lvl="0" marL="228600" rtl="0" algn="l">
              <a:lnSpc>
                <a:spcPct val="90000"/>
              </a:lnSpc>
              <a:spcBef>
                <a:spcPts val="1000"/>
              </a:spcBef>
              <a:spcAft>
                <a:spcPts val="0"/>
              </a:spcAft>
              <a:buClr>
                <a:schemeClr val="lt1"/>
              </a:buClr>
              <a:buSzPts val="2000"/>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0" name="Shape 160"/>
        <p:cNvGrpSpPr/>
        <p:nvPr/>
      </p:nvGrpSpPr>
      <p:grpSpPr>
        <a:xfrm>
          <a:off x="0" y="0"/>
          <a:ext cx="0" cy="0"/>
          <a:chOff x="0" y="0"/>
          <a:chExt cx="0" cy="0"/>
        </a:xfrm>
      </p:grpSpPr>
      <p:sp>
        <p:nvSpPr>
          <p:cNvPr id="161" name="Google Shape;161;p19"/>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2" name="Google Shape;162;p19"/>
          <p:cNvSpPr txBox="1"/>
          <p:nvPr>
            <p:ph type="title"/>
          </p:nvPr>
        </p:nvSpPr>
        <p:spPr>
          <a:xfrm>
            <a:off x="841248" y="426720"/>
            <a:ext cx="10506456" cy="19191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200"/>
              <a:buFont typeface="Play"/>
              <a:buNone/>
            </a:pPr>
            <a:r>
              <a:rPr b="1" lang="en-US" sz="4200"/>
              <a:t>Project: Web Analytics/Web Observability Tool</a:t>
            </a:r>
            <a:br>
              <a:rPr b="1" lang="en-US" sz="4200"/>
            </a:br>
            <a:endParaRPr sz="4200"/>
          </a:p>
        </p:txBody>
      </p:sp>
      <p:sp>
        <p:nvSpPr>
          <p:cNvPr id="163" name="Google Shape;163;p19"/>
          <p:cNvSpPr/>
          <p:nvPr/>
        </p:nvSpPr>
        <p:spPr>
          <a:xfrm>
            <a:off x="865950" y="2223021"/>
            <a:ext cx="10451700" cy="378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64" name="Google Shape;164;p19"/>
          <p:cNvSpPr/>
          <p:nvPr/>
        </p:nvSpPr>
        <p:spPr>
          <a:xfrm flipH="1" rot="10800000">
            <a:off x="865948" y="2085541"/>
            <a:ext cx="1873500" cy="1371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65" name="Google Shape;165;p19"/>
          <p:cNvSpPr txBox="1"/>
          <p:nvPr>
            <p:ph idx="1" type="body"/>
          </p:nvPr>
        </p:nvSpPr>
        <p:spPr>
          <a:xfrm>
            <a:off x="841250" y="2459423"/>
            <a:ext cx="10509600" cy="3783600"/>
          </a:xfrm>
          <a:prstGeom prst="rect">
            <a:avLst/>
          </a:prstGeom>
          <a:noFill/>
          <a:ln>
            <a:noFill/>
          </a:ln>
        </p:spPr>
        <p:txBody>
          <a:bodyPr anchorCtr="0" anchor="t" bIns="45700" lIns="91425" spcFirstLastPara="1" rIns="91425" wrap="square" tIns="45700">
            <a:noAutofit/>
          </a:bodyPr>
          <a:lstStyle/>
          <a:p>
            <a:pPr indent="-247650" lvl="0" marL="228600" rtl="0" algn="l">
              <a:lnSpc>
                <a:spcPct val="90000"/>
              </a:lnSpc>
              <a:spcBef>
                <a:spcPts val="0"/>
              </a:spcBef>
              <a:spcAft>
                <a:spcPts val="0"/>
              </a:spcAft>
              <a:buClr>
                <a:schemeClr val="lt1"/>
              </a:buClr>
              <a:buSzPts val="1800"/>
              <a:buChar char="•"/>
            </a:pPr>
            <a:r>
              <a:rPr lang="en-US" sz="1800"/>
              <a:t>We Built a "Web Observability" tool.</a:t>
            </a:r>
            <a:endParaRPr sz="3100"/>
          </a:p>
          <a:p>
            <a:pPr indent="-247650" lvl="0" marL="228600" rtl="0" algn="l">
              <a:lnSpc>
                <a:spcPct val="90000"/>
              </a:lnSpc>
              <a:spcBef>
                <a:spcPts val="1000"/>
              </a:spcBef>
              <a:spcAft>
                <a:spcPts val="0"/>
              </a:spcAft>
              <a:buClr>
                <a:schemeClr val="lt1"/>
              </a:buClr>
              <a:buSzPts val="1800"/>
              <a:buChar char="•"/>
            </a:pPr>
            <a:r>
              <a:rPr b="1" lang="en-US" sz="1800"/>
              <a:t>The Problem:</a:t>
            </a:r>
            <a:endParaRPr sz="1800"/>
          </a:p>
          <a:p>
            <a:pPr indent="-247650" lvl="1" marL="685800" rtl="0" algn="l">
              <a:lnSpc>
                <a:spcPct val="90000"/>
              </a:lnSpc>
              <a:spcBef>
                <a:spcPts val="500"/>
              </a:spcBef>
              <a:spcAft>
                <a:spcPts val="0"/>
              </a:spcAft>
              <a:buClr>
                <a:schemeClr val="lt1"/>
              </a:buClr>
              <a:buSzPts val="1800"/>
              <a:buChar char="•"/>
            </a:pPr>
            <a:r>
              <a:rPr lang="en-US" sz="1800"/>
              <a:t>Websites load dozens of invisible trackers (Ads, Analytics, Beacons).</a:t>
            </a:r>
            <a:endParaRPr sz="2700"/>
          </a:p>
          <a:p>
            <a:pPr indent="-247650" lvl="1" marL="685800" rtl="0" algn="l">
              <a:lnSpc>
                <a:spcPct val="90000"/>
              </a:lnSpc>
              <a:spcBef>
                <a:spcPts val="500"/>
              </a:spcBef>
              <a:spcAft>
                <a:spcPts val="0"/>
              </a:spcAft>
              <a:buClr>
                <a:schemeClr val="lt1"/>
              </a:buClr>
              <a:buSzPts val="1800"/>
              <a:buChar char="•"/>
            </a:pPr>
            <a:r>
              <a:rPr lang="en-US" sz="1800"/>
              <a:t>Users have no visibility into this traffic.</a:t>
            </a:r>
            <a:endParaRPr sz="2700"/>
          </a:p>
          <a:p>
            <a:pPr indent="-247650" lvl="0" marL="228600" rtl="0" algn="l">
              <a:lnSpc>
                <a:spcPct val="90000"/>
              </a:lnSpc>
              <a:spcBef>
                <a:spcPts val="1000"/>
              </a:spcBef>
              <a:spcAft>
                <a:spcPts val="0"/>
              </a:spcAft>
              <a:buClr>
                <a:schemeClr val="lt1"/>
              </a:buClr>
              <a:buSzPts val="1800"/>
              <a:buChar char="•"/>
            </a:pPr>
            <a:r>
              <a:rPr b="1" lang="en-US" sz="1800"/>
              <a:t>Our Solution:</a:t>
            </a:r>
            <a:endParaRPr sz="1800"/>
          </a:p>
          <a:p>
            <a:pPr indent="-247650" lvl="1" marL="685800" rtl="0" algn="l">
              <a:lnSpc>
                <a:spcPct val="90000"/>
              </a:lnSpc>
              <a:spcBef>
                <a:spcPts val="500"/>
              </a:spcBef>
              <a:spcAft>
                <a:spcPts val="0"/>
              </a:spcAft>
              <a:buClr>
                <a:schemeClr val="lt1"/>
              </a:buClr>
              <a:buSzPts val="1800"/>
              <a:buChar char="•"/>
            </a:pPr>
            <a:r>
              <a:rPr b="1" lang="en-US" sz="1800"/>
              <a:t>Listen:</a:t>
            </a:r>
            <a:r>
              <a:rPr lang="en-US" sz="1800"/>
              <a:t> Use </a:t>
            </a:r>
            <a:endParaRPr sz="2700"/>
          </a:p>
          <a:p>
            <a:pPr indent="-247650" lvl="1" marL="685800" rtl="0" algn="l">
              <a:lnSpc>
                <a:spcPct val="90000"/>
              </a:lnSpc>
              <a:spcBef>
                <a:spcPts val="500"/>
              </a:spcBef>
              <a:spcAft>
                <a:spcPts val="0"/>
              </a:spcAft>
              <a:buClr>
                <a:schemeClr val="lt1"/>
              </a:buClr>
              <a:buSzPts val="1800"/>
              <a:buChar char="•"/>
            </a:pPr>
            <a:r>
              <a:rPr lang="en-US" sz="1800"/>
              <a:t>chrome.webRequest</a:t>
            </a:r>
            <a:endParaRPr sz="2700"/>
          </a:p>
          <a:p>
            <a:pPr indent="-247650" lvl="1" marL="685800" rtl="0" algn="l">
              <a:lnSpc>
                <a:spcPct val="90000"/>
              </a:lnSpc>
              <a:spcBef>
                <a:spcPts val="500"/>
              </a:spcBef>
              <a:spcAft>
                <a:spcPts val="0"/>
              </a:spcAft>
              <a:buClr>
                <a:schemeClr val="lt1"/>
              </a:buClr>
              <a:buSzPts val="1800"/>
              <a:buChar char="•"/>
            </a:pPr>
            <a:r>
              <a:rPr lang="en-US" sz="1800"/>
              <a:t> to watch network traffic in real-time.</a:t>
            </a:r>
            <a:endParaRPr sz="2700"/>
          </a:p>
          <a:p>
            <a:pPr indent="-247650" lvl="1" marL="685800" rtl="0" algn="l">
              <a:lnSpc>
                <a:spcPct val="90000"/>
              </a:lnSpc>
              <a:spcBef>
                <a:spcPts val="500"/>
              </a:spcBef>
              <a:spcAft>
                <a:spcPts val="0"/>
              </a:spcAft>
              <a:buClr>
                <a:schemeClr val="lt1"/>
              </a:buClr>
              <a:buSzPts val="1800"/>
              <a:buChar char="•"/>
            </a:pPr>
            <a:r>
              <a:rPr b="1" lang="en-US" sz="1800"/>
              <a:t>Analyze:</a:t>
            </a:r>
            <a:r>
              <a:rPr lang="en-US" sz="1800"/>
              <a:t> Detect 3rd-party domains.</a:t>
            </a:r>
            <a:endParaRPr sz="2700"/>
          </a:p>
          <a:p>
            <a:pPr indent="-247650" lvl="1" marL="685800" rtl="0" algn="l">
              <a:lnSpc>
                <a:spcPct val="90000"/>
              </a:lnSpc>
              <a:spcBef>
                <a:spcPts val="500"/>
              </a:spcBef>
              <a:spcAft>
                <a:spcPts val="0"/>
              </a:spcAft>
              <a:buClr>
                <a:schemeClr val="lt1"/>
              </a:buClr>
              <a:buSzPts val="1800"/>
              <a:buChar char="•"/>
            </a:pPr>
            <a:r>
              <a:rPr b="1" lang="en-US" sz="1800"/>
              <a:t>Visualize:</a:t>
            </a:r>
            <a:r>
              <a:rPr lang="en-US" sz="1800"/>
              <a:t> Use </a:t>
            </a:r>
            <a:r>
              <a:rPr b="1" lang="en-US" sz="1800"/>
              <a:t>Vue.js 3</a:t>
            </a:r>
            <a:r>
              <a:rPr lang="en-US" sz="1800"/>
              <a:t> to render a live dashboard.</a:t>
            </a:r>
            <a:endParaRPr sz="2700"/>
          </a:p>
          <a:p>
            <a:pPr indent="-133350" lvl="0" marL="228600" rtl="0" algn="l">
              <a:lnSpc>
                <a:spcPct val="90000"/>
              </a:lnSpc>
              <a:spcBef>
                <a:spcPts val="1000"/>
              </a:spcBef>
              <a:spcAft>
                <a:spcPts val="0"/>
              </a:spcAft>
              <a:buClr>
                <a:schemeClr val="lt1"/>
              </a:buClr>
              <a:buSzPts val="1500"/>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0" name="Shape 170"/>
        <p:cNvGrpSpPr/>
        <p:nvPr/>
      </p:nvGrpSpPr>
      <p:grpSpPr>
        <a:xfrm>
          <a:off x="0" y="0"/>
          <a:ext cx="0" cy="0"/>
          <a:chOff x="0" y="0"/>
          <a:chExt cx="0" cy="0"/>
        </a:xfrm>
      </p:grpSpPr>
      <p:sp>
        <p:nvSpPr>
          <p:cNvPr id="171" name="Google Shape;171;p20"/>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2" name="Google Shape;172;p20"/>
          <p:cNvSpPr txBox="1"/>
          <p:nvPr/>
        </p:nvSpPr>
        <p:spPr>
          <a:xfrm>
            <a:off x="841248" y="426720"/>
            <a:ext cx="10506456" cy="191914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i="0" lang="en-US" sz="6000" u="none" cap="none" strike="noStrike">
                <a:solidFill>
                  <a:schemeClr val="lt1"/>
                </a:solidFill>
                <a:latin typeface="Play"/>
                <a:ea typeface="Play"/>
                <a:cs typeface="Play"/>
                <a:sym typeface="Play"/>
              </a:rPr>
              <a:t>A Brief History</a:t>
            </a:r>
            <a:endParaRPr/>
          </a:p>
        </p:txBody>
      </p:sp>
      <p:sp>
        <p:nvSpPr>
          <p:cNvPr id="173" name="Google Shape;173;p20"/>
          <p:cNvSpPr/>
          <p:nvPr/>
        </p:nvSpPr>
        <p:spPr>
          <a:xfrm>
            <a:off x="865953" y="2899927"/>
            <a:ext cx="1045159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74" name="Google Shape;174;p20"/>
          <p:cNvSpPr/>
          <p:nvPr/>
        </p:nvSpPr>
        <p:spPr>
          <a:xfrm flipH="1" rot="10800000">
            <a:off x="841248" y="2776031"/>
            <a:ext cx="1873457" cy="13716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75" name="Google Shape;175;p20"/>
          <p:cNvSpPr txBox="1"/>
          <p:nvPr>
            <p:ph idx="1" type="body"/>
          </p:nvPr>
        </p:nvSpPr>
        <p:spPr>
          <a:xfrm>
            <a:off x="841248" y="3337269"/>
            <a:ext cx="10509504" cy="290568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Char char="•"/>
            </a:pPr>
            <a:r>
              <a:rPr b="1" lang="en-US" sz="2000"/>
              <a:t>The Dark Ages:</a:t>
            </a:r>
            <a:endParaRPr sz="2000"/>
          </a:p>
          <a:p>
            <a:pPr indent="-228600" lvl="1" marL="685800" rtl="0" algn="l">
              <a:lnSpc>
                <a:spcPct val="90000"/>
              </a:lnSpc>
              <a:spcBef>
                <a:spcPts val="500"/>
              </a:spcBef>
              <a:spcAft>
                <a:spcPts val="0"/>
              </a:spcAft>
              <a:buClr>
                <a:schemeClr val="lt1"/>
              </a:buClr>
              <a:buSzPts val="2000"/>
              <a:buChar char="•"/>
            </a:pPr>
            <a:r>
              <a:rPr b="1" lang="en-US" sz="2000"/>
              <a:t>IE:</a:t>
            </a:r>
            <a:r>
              <a:rPr lang="en-US" sz="2000"/>
              <a:t> Used C++ (ActiveX). Secure? No.</a:t>
            </a:r>
            <a:endParaRPr/>
          </a:p>
          <a:p>
            <a:pPr indent="-228600" lvl="1" marL="685800" rtl="0" algn="l">
              <a:lnSpc>
                <a:spcPct val="90000"/>
              </a:lnSpc>
              <a:spcBef>
                <a:spcPts val="500"/>
              </a:spcBef>
              <a:spcAft>
                <a:spcPts val="0"/>
              </a:spcAft>
              <a:buClr>
                <a:schemeClr val="lt1"/>
              </a:buClr>
              <a:buSzPts val="2000"/>
              <a:buChar char="•"/>
            </a:pPr>
            <a:r>
              <a:rPr b="1" lang="en-US" sz="2000"/>
              <a:t>Firefox:</a:t>
            </a:r>
            <a:r>
              <a:rPr lang="en-US" sz="2000"/>
              <a:t> Used XUL (XML). Compatible? No.</a:t>
            </a:r>
            <a:endParaRPr/>
          </a:p>
          <a:p>
            <a:pPr indent="-228600" lvl="1" marL="685800" rtl="0" algn="l">
              <a:lnSpc>
                <a:spcPct val="90000"/>
              </a:lnSpc>
              <a:spcBef>
                <a:spcPts val="500"/>
              </a:spcBef>
              <a:spcAft>
                <a:spcPts val="0"/>
              </a:spcAft>
              <a:buClr>
                <a:schemeClr val="lt1"/>
              </a:buClr>
              <a:buSzPts val="2000"/>
              <a:buChar char="•"/>
            </a:pPr>
            <a:r>
              <a:rPr b="1" lang="en-US" sz="2000"/>
              <a:t>Chrome:</a:t>
            </a:r>
            <a:r>
              <a:rPr lang="en-US" sz="2000"/>
              <a:t> Built the proprietary precursor to modern extensions.</a:t>
            </a:r>
            <a:endParaRPr/>
          </a:p>
          <a:p>
            <a:pPr indent="-228600" lvl="0" marL="228600" rtl="0" algn="l">
              <a:lnSpc>
                <a:spcPct val="90000"/>
              </a:lnSpc>
              <a:spcBef>
                <a:spcPts val="1000"/>
              </a:spcBef>
              <a:spcAft>
                <a:spcPts val="0"/>
              </a:spcAft>
              <a:buClr>
                <a:schemeClr val="lt1"/>
              </a:buClr>
              <a:buSzPts val="2000"/>
              <a:buChar char="•"/>
            </a:pPr>
            <a:r>
              <a:rPr b="1" lang="en-US" sz="2000"/>
              <a:t>The Turning Point:</a:t>
            </a:r>
            <a:endParaRPr sz="2000"/>
          </a:p>
          <a:p>
            <a:pPr indent="-228600" lvl="1" marL="685800" rtl="0" algn="l">
              <a:lnSpc>
                <a:spcPct val="90000"/>
              </a:lnSpc>
              <a:spcBef>
                <a:spcPts val="500"/>
              </a:spcBef>
              <a:spcAft>
                <a:spcPts val="0"/>
              </a:spcAft>
              <a:buClr>
                <a:schemeClr val="lt1"/>
              </a:buClr>
              <a:buSzPts val="2000"/>
              <a:buChar char="•"/>
            </a:pPr>
            <a:r>
              <a:rPr b="1" lang="en-US" sz="2000"/>
              <a:t>W3C WebExtensions Standard:</a:t>
            </a:r>
            <a:endParaRPr sz="2000"/>
          </a:p>
          <a:p>
            <a:pPr indent="-228600" lvl="1" marL="685800" rtl="0" algn="l">
              <a:lnSpc>
                <a:spcPct val="90000"/>
              </a:lnSpc>
              <a:spcBef>
                <a:spcPts val="500"/>
              </a:spcBef>
              <a:spcAft>
                <a:spcPts val="0"/>
              </a:spcAft>
              <a:buClr>
                <a:schemeClr val="lt1"/>
              </a:buClr>
              <a:buSzPts val="2000"/>
              <a:buChar char="•"/>
            </a:pPr>
            <a:r>
              <a:rPr lang="en-US" sz="2000"/>
              <a:t>Apple, Google, Microsoft, and Mozilla agreed on a Standard.</a:t>
            </a:r>
            <a:endParaRPr/>
          </a:p>
          <a:p>
            <a:pPr indent="-228600" lvl="1" marL="685800" rtl="0" algn="l">
              <a:lnSpc>
                <a:spcPct val="90000"/>
              </a:lnSpc>
              <a:spcBef>
                <a:spcPts val="500"/>
              </a:spcBef>
              <a:spcAft>
                <a:spcPts val="0"/>
              </a:spcAft>
              <a:buClr>
                <a:schemeClr val="lt1"/>
              </a:buClr>
              <a:buSzPts val="2000"/>
              <a:buChar char="•"/>
            </a:pPr>
            <a:r>
              <a:rPr lang="en-US" sz="2000"/>
              <a:t>Now: </a:t>
            </a:r>
            <a:r>
              <a:rPr b="1" lang="en-US" sz="2000"/>
              <a:t>Code Once, Run Everywhere</a:t>
            </a:r>
            <a:r>
              <a:rPr lang="en-US" sz="2000"/>
              <a:t> (mostly).</a:t>
            </a:r>
            <a:endParaRPr/>
          </a:p>
          <a:p>
            <a:pPr indent="-101600" lvl="0" marL="228600" rtl="0" algn="l">
              <a:lnSpc>
                <a:spcPct val="90000"/>
              </a:lnSpc>
              <a:spcBef>
                <a:spcPts val="1000"/>
              </a:spcBef>
              <a:spcAft>
                <a:spcPts val="0"/>
              </a:spcAft>
              <a:buClr>
                <a:schemeClr val="lt1"/>
              </a:buClr>
              <a:buSzPts val="2000"/>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0" name="Shape 180"/>
        <p:cNvGrpSpPr/>
        <p:nvPr/>
      </p:nvGrpSpPr>
      <p:grpSpPr>
        <a:xfrm>
          <a:off x="0" y="0"/>
          <a:ext cx="0" cy="0"/>
          <a:chOff x="0" y="0"/>
          <a:chExt cx="0" cy="0"/>
        </a:xfrm>
      </p:grpSpPr>
      <p:sp>
        <p:nvSpPr>
          <p:cNvPr id="181" name="Google Shape;181;p21"/>
          <p:cNvSpPr/>
          <p:nvPr/>
        </p:nvSpPr>
        <p:spPr>
          <a:xfrm>
            <a:off x="0" y="0"/>
            <a:ext cx="121920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2" name="Google Shape;182;p21"/>
          <p:cNvSpPr/>
          <p:nvPr/>
        </p:nvSpPr>
        <p:spPr>
          <a:xfrm>
            <a:off x="558209" y="0"/>
            <a:ext cx="11167447" cy="2018806"/>
          </a:xfrm>
          <a:prstGeom prst="rect">
            <a:avLst/>
          </a:prstGeom>
          <a:solidFill>
            <a:schemeClr val="dk1"/>
          </a:solidFill>
          <a:ln cap="flat" cmpd="sng" w="9525">
            <a:solidFill>
              <a:srgbClr val="E1E1E1"/>
            </a:solidFill>
            <a:prstDash val="solid"/>
            <a:miter lim="800000"/>
            <a:headEnd len="sm" w="sm" type="none"/>
            <a:tailEnd len="sm" w="sm" type="none"/>
          </a:ln>
          <a:effectLst>
            <a:outerShdw blurRad="50800" rotWithShape="0" algn="tl" dir="2700000" dist="38100">
              <a:schemeClr val="dk1">
                <a:alpha val="4980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3" name="Google Shape;183;p21"/>
          <p:cNvSpPr/>
          <p:nvPr/>
        </p:nvSpPr>
        <p:spPr>
          <a:xfrm>
            <a:off x="566928" y="0"/>
            <a:ext cx="11155680" cy="201168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84" name="Google Shape;184;p21"/>
          <p:cNvSpPr txBox="1"/>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i="0" lang="en-US" sz="4000" u="none" cap="none" strike="noStrike">
                <a:solidFill>
                  <a:schemeClr val="lt1"/>
                </a:solidFill>
                <a:latin typeface="Play"/>
                <a:ea typeface="Play"/>
                <a:cs typeface="Play"/>
                <a:sym typeface="Play"/>
              </a:rPr>
              <a:t>Manifest V2 vs V3</a:t>
            </a:r>
            <a:endParaRPr/>
          </a:p>
        </p:txBody>
      </p:sp>
      <p:sp>
        <p:nvSpPr>
          <p:cNvPr id="185" name="Google Shape;185;p21"/>
          <p:cNvSpPr/>
          <p:nvPr/>
        </p:nvSpPr>
        <p:spPr>
          <a:xfrm>
            <a:off x="498834" y="758952"/>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6" name="Google Shape;186;p21"/>
          <p:cNvSpPr txBox="1"/>
          <p:nvPr>
            <p:ph idx="1" type="body"/>
          </p:nvPr>
        </p:nvSpPr>
        <p:spPr>
          <a:xfrm>
            <a:off x="1115568" y="2481943"/>
            <a:ext cx="10168128" cy="36950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b="1" lang="en-US" sz="2200"/>
              <a:t>The Shift:</a:t>
            </a:r>
            <a:r>
              <a:rPr lang="en-US" sz="2200"/>
              <a:t> Moving from Persistent Background Pages to </a:t>
            </a:r>
            <a:r>
              <a:rPr b="1" lang="en-US" sz="2200"/>
              <a:t>Service Workers</a:t>
            </a:r>
            <a:r>
              <a:rPr lang="en-US" sz="2200"/>
              <a:t>.</a:t>
            </a:r>
            <a:endParaRPr/>
          </a:p>
          <a:p>
            <a:pPr indent="-228600" lvl="0" marL="228600" rtl="0" algn="l">
              <a:lnSpc>
                <a:spcPct val="90000"/>
              </a:lnSpc>
              <a:spcBef>
                <a:spcPts val="1000"/>
              </a:spcBef>
              <a:spcAft>
                <a:spcPts val="0"/>
              </a:spcAft>
              <a:buClr>
                <a:schemeClr val="lt1"/>
              </a:buClr>
              <a:buSzPts val="2200"/>
              <a:buChar char="•"/>
            </a:pPr>
            <a:r>
              <a:rPr b="1" lang="en-US" sz="2200"/>
              <a:t>Why Change?</a:t>
            </a:r>
            <a:endParaRPr sz="2200"/>
          </a:p>
          <a:p>
            <a:pPr indent="-228600" lvl="1" marL="685800" rtl="0" algn="l">
              <a:lnSpc>
                <a:spcPct val="90000"/>
              </a:lnSpc>
              <a:spcBef>
                <a:spcPts val="500"/>
              </a:spcBef>
              <a:spcAft>
                <a:spcPts val="0"/>
              </a:spcAft>
              <a:buClr>
                <a:schemeClr val="lt1"/>
              </a:buClr>
              <a:buSzPts val="2200"/>
              <a:buChar char="•"/>
            </a:pPr>
            <a:r>
              <a:rPr b="1" lang="en-US" sz="2200"/>
              <a:t>Performance:</a:t>
            </a:r>
            <a:r>
              <a:rPr lang="en-US" sz="2200"/>
              <a:t> Service workers sleep when not in use (Saves RAM).</a:t>
            </a:r>
            <a:endParaRPr/>
          </a:p>
          <a:p>
            <a:pPr indent="-228600" lvl="1" marL="685800" rtl="0" algn="l">
              <a:lnSpc>
                <a:spcPct val="90000"/>
              </a:lnSpc>
              <a:spcBef>
                <a:spcPts val="500"/>
              </a:spcBef>
              <a:spcAft>
                <a:spcPts val="0"/>
              </a:spcAft>
              <a:buClr>
                <a:schemeClr val="lt1"/>
              </a:buClr>
              <a:buSzPts val="2200"/>
              <a:buChar char="•"/>
            </a:pPr>
            <a:r>
              <a:rPr b="1" lang="en-US" sz="2200"/>
              <a:t>Security:</a:t>
            </a:r>
            <a:r>
              <a:rPr lang="en-US" sz="2200"/>
              <a:t> Remote Code (CDNs) is now </a:t>
            </a:r>
            <a:r>
              <a:rPr b="1" lang="en-US" sz="2200"/>
              <a:t>DISALLOWED</a:t>
            </a:r>
            <a:r>
              <a:rPr lang="en-US" sz="2200"/>
              <a:t>.</a:t>
            </a:r>
            <a:endParaRPr/>
          </a:p>
          <a:p>
            <a:pPr indent="-228600" lvl="0" marL="228600" rtl="0" algn="l">
              <a:lnSpc>
                <a:spcPct val="90000"/>
              </a:lnSpc>
              <a:spcBef>
                <a:spcPts val="1000"/>
              </a:spcBef>
              <a:spcAft>
                <a:spcPts val="0"/>
              </a:spcAft>
              <a:buClr>
                <a:schemeClr val="lt1"/>
              </a:buClr>
              <a:buSzPts val="2200"/>
              <a:buChar char="•"/>
            </a:pPr>
            <a:r>
              <a:rPr b="1" lang="en-US" sz="2200"/>
              <a:t>The "AdBlock" Problem:</a:t>
            </a:r>
            <a:endParaRPr sz="2200"/>
          </a:p>
          <a:p>
            <a:pPr indent="-228600" lvl="1" marL="685800" rtl="0" algn="l">
              <a:lnSpc>
                <a:spcPct val="90000"/>
              </a:lnSpc>
              <a:spcBef>
                <a:spcPts val="500"/>
              </a:spcBef>
              <a:spcAft>
                <a:spcPts val="0"/>
              </a:spcAft>
              <a:buClr>
                <a:schemeClr val="lt1"/>
              </a:buClr>
              <a:buSzPts val="2200"/>
              <a:buChar char="•"/>
            </a:pPr>
            <a:r>
              <a:rPr b="1" lang="en-US" sz="2200"/>
              <a:t>Old:</a:t>
            </a:r>
            <a:r>
              <a:rPr lang="en-US" sz="2200"/>
              <a:t> Pause request → Checked by JS → Blocked. (Slow).</a:t>
            </a:r>
            <a:endParaRPr/>
          </a:p>
          <a:p>
            <a:pPr indent="-228600" lvl="1" marL="685800" rtl="0" algn="l">
              <a:lnSpc>
                <a:spcPct val="90000"/>
              </a:lnSpc>
              <a:spcBef>
                <a:spcPts val="500"/>
              </a:spcBef>
              <a:spcAft>
                <a:spcPts val="0"/>
              </a:spcAft>
              <a:buClr>
                <a:schemeClr val="lt1"/>
              </a:buClr>
              <a:buSzPts val="2200"/>
              <a:buChar char="•"/>
            </a:pPr>
            <a:r>
              <a:rPr b="1" lang="en-US" sz="2200"/>
              <a:t>New:</a:t>
            </a:r>
            <a:r>
              <a:rPr lang="en-US" sz="2200"/>
              <a:t> Provide a Rule List → Browser Blocks. (Fast &amp; Private).</a:t>
            </a:r>
            <a:endParaRPr/>
          </a:p>
          <a:p>
            <a:pPr indent="-88900" lvl="0" marL="228600" rtl="0" algn="l">
              <a:lnSpc>
                <a:spcPct val="90000"/>
              </a:lnSpc>
              <a:spcBef>
                <a:spcPts val="1000"/>
              </a:spcBef>
              <a:spcAft>
                <a:spcPts val="0"/>
              </a:spcAft>
              <a:buClr>
                <a:schemeClr val="lt1"/>
              </a:buClr>
              <a:buSzPts val="2200"/>
              <a:buNone/>
            </a:pPr>
            <a:r>
              <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1" name="Shape 191"/>
        <p:cNvGrpSpPr/>
        <p:nvPr/>
      </p:nvGrpSpPr>
      <p:grpSpPr>
        <a:xfrm>
          <a:off x="0" y="0"/>
          <a:ext cx="0" cy="0"/>
          <a:chOff x="0" y="0"/>
          <a:chExt cx="0" cy="0"/>
        </a:xfrm>
      </p:grpSpPr>
      <p:sp>
        <p:nvSpPr>
          <p:cNvPr id="192" name="Google Shape;192;p22"/>
          <p:cNvSpPr/>
          <p:nvPr/>
        </p:nvSpPr>
        <p:spPr>
          <a:xfrm>
            <a:off x="0" y="0"/>
            <a:ext cx="12188952"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3" name="Google Shape;19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Play"/>
              <a:buNone/>
            </a:pPr>
            <a:r>
              <a:rPr b="1" lang="en-US" sz="5400"/>
              <a:t>Conclusion </a:t>
            </a:r>
            <a:endParaRPr sz="5400"/>
          </a:p>
        </p:txBody>
      </p:sp>
      <p:sp>
        <p:nvSpPr>
          <p:cNvPr id="194" name="Google Shape;194;p22"/>
          <p:cNvSpPr/>
          <p:nvPr/>
        </p:nvSpPr>
        <p:spPr>
          <a:xfrm>
            <a:off x="838200" y="1865313"/>
            <a:ext cx="10424160" cy="18288"/>
          </a:xfrm>
          <a:custGeom>
            <a:rect b="b" l="l" r="r" t="t"/>
            <a:pathLst>
              <a:path extrusionOk="0" fill="none" h="18288" w="1042416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extrusionOk="0" h="18288" w="1042416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195" name="Google Shape;195;p22"/>
          <p:cNvGrpSpPr/>
          <p:nvPr/>
        </p:nvGrpSpPr>
        <p:grpSpPr>
          <a:xfrm>
            <a:off x="1398000" y="2438545"/>
            <a:ext cx="9396000" cy="3527958"/>
            <a:chOff x="559800" y="210458"/>
            <a:chExt cx="9396000" cy="3527958"/>
          </a:xfrm>
        </p:grpSpPr>
        <p:sp>
          <p:nvSpPr>
            <p:cNvPr id="196" name="Google Shape;196;p22"/>
            <p:cNvSpPr/>
            <p:nvPr/>
          </p:nvSpPr>
          <p:spPr>
            <a:xfrm>
              <a:off x="1963800" y="210458"/>
              <a:ext cx="1512000" cy="1512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2"/>
            <p:cNvSpPr/>
            <p:nvPr/>
          </p:nvSpPr>
          <p:spPr>
            <a:xfrm>
              <a:off x="559800" y="1874161"/>
              <a:ext cx="4320000" cy="64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txBox="1"/>
            <p:nvPr/>
          </p:nvSpPr>
          <p:spPr>
            <a:xfrm>
              <a:off x="559800" y="1874161"/>
              <a:ext cx="4320000" cy="648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3600"/>
                <a:buFont typeface="Arial"/>
                <a:buNone/>
              </a:pPr>
              <a:r>
                <a:rPr b="1" i="0" lang="en-US" sz="3600" u="none" cap="none" strike="noStrike">
                  <a:solidFill>
                    <a:schemeClr val="lt1"/>
                  </a:solidFill>
                  <a:latin typeface="Arial"/>
                  <a:ea typeface="Arial"/>
                  <a:cs typeface="Arial"/>
                  <a:sym typeface="Arial"/>
                </a:rPr>
                <a:t>What We Learned:</a:t>
              </a:r>
              <a:endParaRPr b="0" i="0" sz="3600" u="none" cap="none" strike="noStrike">
                <a:solidFill>
                  <a:schemeClr val="lt1"/>
                </a:solidFill>
                <a:latin typeface="Arial"/>
                <a:ea typeface="Arial"/>
                <a:cs typeface="Arial"/>
                <a:sym typeface="Arial"/>
              </a:endParaRPr>
            </a:p>
          </p:txBody>
        </p:sp>
        <p:sp>
          <p:nvSpPr>
            <p:cNvPr id="199" name="Google Shape;199;p22"/>
            <p:cNvSpPr/>
            <p:nvPr/>
          </p:nvSpPr>
          <p:spPr>
            <a:xfrm>
              <a:off x="559800" y="2592720"/>
              <a:ext cx="4320000" cy="114569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2"/>
            <p:cNvSpPr txBox="1"/>
            <p:nvPr/>
          </p:nvSpPr>
          <p:spPr>
            <a:xfrm>
              <a:off x="559800" y="2592720"/>
              <a:ext cx="4320000" cy="1145696"/>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Architecture:</a:t>
              </a:r>
              <a:r>
                <a:rPr b="0" i="0" lang="en-US" sz="1700" u="none" cap="none" strike="noStrike">
                  <a:solidFill>
                    <a:schemeClr val="lt1"/>
                  </a:solidFill>
                  <a:latin typeface="Arial"/>
                  <a:ea typeface="Arial"/>
                  <a:cs typeface="Arial"/>
                  <a:sym typeface="Arial"/>
                </a:rPr>
                <a:t> Service Worker Lifecycle.</a:t>
              </a:r>
              <a:endParaRPr/>
            </a:p>
            <a:p>
              <a:pPr indent="0" lvl="0" marL="0" marR="0" rtl="0" algn="ctr">
                <a:lnSpc>
                  <a:spcPct val="90000"/>
                </a:lnSpc>
                <a:spcBef>
                  <a:spcPts val="595"/>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Async Logic:</a:t>
              </a:r>
              <a:r>
                <a:rPr b="0" i="0" lang="en-US" sz="1700" u="none" cap="none" strike="noStrike">
                  <a:solidFill>
                    <a:schemeClr val="lt1"/>
                  </a:solidFill>
                  <a:latin typeface="Arial"/>
                  <a:ea typeface="Arial"/>
                  <a:cs typeface="Arial"/>
                  <a:sym typeface="Arial"/>
                </a:rPr>
                <a:t> Promises vs Callbacks.</a:t>
              </a:r>
              <a:endParaRPr/>
            </a:p>
            <a:p>
              <a:pPr indent="0" lvl="0" marL="0" marR="0" rtl="0" algn="ctr">
                <a:lnSpc>
                  <a:spcPct val="90000"/>
                </a:lnSpc>
                <a:spcBef>
                  <a:spcPts val="595"/>
                </a:spcBef>
                <a:spcAft>
                  <a:spcPts val="0"/>
                </a:spcAft>
                <a:buClr>
                  <a:schemeClr val="lt1"/>
                </a:buClr>
                <a:buSzPts val="1700"/>
                <a:buFont typeface="Arial"/>
                <a:buNone/>
              </a:pPr>
              <a:r>
                <a:rPr b="1" i="0" lang="en-US" sz="1700" u="none" cap="none" strike="noStrike">
                  <a:solidFill>
                    <a:schemeClr val="lt1"/>
                  </a:solidFill>
                  <a:latin typeface="Arial"/>
                  <a:ea typeface="Arial"/>
                  <a:cs typeface="Arial"/>
                  <a:sym typeface="Arial"/>
                </a:rPr>
                <a:t>Privacy:</a:t>
              </a:r>
              <a:r>
                <a:rPr b="0" i="0" lang="en-US" sz="1700" u="none" cap="none" strike="noStrike">
                  <a:solidFill>
                    <a:schemeClr val="lt1"/>
                  </a:solidFill>
                  <a:latin typeface="Arial"/>
                  <a:ea typeface="Arial"/>
                  <a:cs typeface="Arial"/>
                  <a:sym typeface="Arial"/>
                </a:rPr>
                <a:t> The power of ’webRequest’ observability.</a:t>
              </a:r>
              <a:endParaRPr/>
            </a:p>
          </p:txBody>
        </p:sp>
        <p:sp>
          <p:nvSpPr>
            <p:cNvPr id="201" name="Google Shape;201;p22"/>
            <p:cNvSpPr/>
            <p:nvPr/>
          </p:nvSpPr>
          <p:spPr>
            <a:xfrm>
              <a:off x="7039800" y="210458"/>
              <a:ext cx="1512000" cy="15120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2"/>
            <p:cNvSpPr/>
            <p:nvPr/>
          </p:nvSpPr>
          <p:spPr>
            <a:xfrm>
              <a:off x="5635800" y="1874161"/>
              <a:ext cx="4320000" cy="64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2"/>
            <p:cNvSpPr txBox="1"/>
            <p:nvPr/>
          </p:nvSpPr>
          <p:spPr>
            <a:xfrm>
              <a:off x="5635800" y="1874161"/>
              <a:ext cx="4320000" cy="648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3600"/>
                <a:buFont typeface="Arial"/>
                <a:buNone/>
              </a:pPr>
              <a:r>
                <a:rPr b="1" i="0" lang="en-US" sz="3600" u="none" cap="none" strike="noStrike">
                  <a:solidFill>
                    <a:schemeClr val="lt1"/>
                  </a:solidFill>
                  <a:latin typeface="Arial"/>
                  <a:ea typeface="Arial"/>
                  <a:cs typeface="Arial"/>
                  <a:sym typeface="Arial"/>
                </a:rPr>
                <a:t>Final Thoughts:</a:t>
              </a:r>
              <a:endParaRPr b="0" i="0" sz="3600" u="none" cap="none" strike="noStrike">
                <a:solidFill>
                  <a:schemeClr val="lt1"/>
                </a:solidFill>
                <a:latin typeface="Arial"/>
                <a:ea typeface="Arial"/>
                <a:cs typeface="Arial"/>
                <a:sym typeface="Arial"/>
              </a:endParaRPr>
            </a:p>
          </p:txBody>
        </p:sp>
        <p:sp>
          <p:nvSpPr>
            <p:cNvPr id="204" name="Google Shape;204;p22"/>
            <p:cNvSpPr/>
            <p:nvPr/>
          </p:nvSpPr>
          <p:spPr>
            <a:xfrm>
              <a:off x="5635800" y="2592720"/>
              <a:ext cx="4320000" cy="114569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2"/>
            <p:cNvSpPr txBox="1"/>
            <p:nvPr/>
          </p:nvSpPr>
          <p:spPr>
            <a:xfrm>
              <a:off x="5635800" y="2592720"/>
              <a:ext cx="4320000" cy="1145696"/>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lt1"/>
                </a:buClr>
                <a:buSzPts val="1700"/>
                <a:buFont typeface="Arial"/>
                <a:buNone/>
              </a:pPr>
              <a:r>
                <a:rPr b="0" i="0" lang="en-US" sz="1700" u="none" cap="none" strike="noStrike">
                  <a:solidFill>
                    <a:schemeClr val="lt1"/>
                  </a:solidFill>
                  <a:latin typeface="Arial"/>
                  <a:ea typeface="Arial"/>
                  <a:cs typeface="Arial"/>
                  <a:sym typeface="Arial"/>
                </a:rPr>
                <a:t>Extensions are the most powerful tool a web developer has to control their experience.</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